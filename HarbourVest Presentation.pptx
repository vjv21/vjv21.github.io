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4"/>
    <p:sldMasterId id="214748371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
      <p:font typeface="Newsreader"/>
      <p:regular r:id="rId29"/>
      <p:bold r:id="rId30"/>
      <p:italic r:id="rId31"/>
      <p:boldItalic r:id="rId32"/>
    </p:embeddedFont>
    <p:embeddedFont>
      <p:font typeface="DM Sans Light"/>
      <p:regular r:id="rId33"/>
      <p:bold r:id="rId34"/>
      <p:italic r:id="rId35"/>
      <p:boldItalic r:id="rId36"/>
    </p:embeddedFont>
    <p:embeddedFont>
      <p:font typeface="DM Sans SemiBold"/>
      <p:regular r:id="rId37"/>
      <p:bold r:id="rId38"/>
      <p:italic r:id="rId39"/>
      <p:boldItalic r:id="rId40"/>
    </p:embeddedFont>
    <p:embeddedFont>
      <p:font typeface="DM Sans"/>
      <p:regular r:id="rId41"/>
      <p:bold r:id="rId42"/>
      <p:italic r:id="rId43"/>
      <p:boldItalic r:id="rId44"/>
    </p:embeddedFont>
    <p:embeddedFont>
      <p:font typeface="Newsreader SemiBold"/>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SemiBold-boldItalic.fntdata"/><Relationship Id="rId42" Type="http://schemas.openxmlformats.org/officeDocument/2006/relationships/font" Target="fonts/DMSans-bold.fntdata"/><Relationship Id="rId41" Type="http://schemas.openxmlformats.org/officeDocument/2006/relationships/font" Target="fonts/DMSans-regular.fntdata"/><Relationship Id="rId44" Type="http://schemas.openxmlformats.org/officeDocument/2006/relationships/font" Target="fonts/DMSans-boldItalic.fntdata"/><Relationship Id="rId43" Type="http://schemas.openxmlformats.org/officeDocument/2006/relationships/font" Target="fonts/DMSans-italic.fntdata"/><Relationship Id="rId46" Type="http://schemas.openxmlformats.org/officeDocument/2006/relationships/font" Target="fonts/NewsreaderSemiBold-bold.fntdata"/><Relationship Id="rId45" Type="http://schemas.openxmlformats.org/officeDocument/2006/relationships/font" Target="fonts/NewsreaderSemiBold-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NewsreaderSemiBold-boldItalic.fntdata"/><Relationship Id="rId47" Type="http://schemas.openxmlformats.org/officeDocument/2006/relationships/font" Target="fonts/NewsreaderSemi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ewsreader-italic.fntdata"/><Relationship Id="rId30" Type="http://schemas.openxmlformats.org/officeDocument/2006/relationships/font" Target="fonts/Newsreader-bold.fntdata"/><Relationship Id="rId33" Type="http://schemas.openxmlformats.org/officeDocument/2006/relationships/font" Target="fonts/DMSansLight-regular.fntdata"/><Relationship Id="rId32" Type="http://schemas.openxmlformats.org/officeDocument/2006/relationships/font" Target="fonts/Newsreader-boldItalic.fntdata"/><Relationship Id="rId35" Type="http://schemas.openxmlformats.org/officeDocument/2006/relationships/font" Target="fonts/DMSansLight-italic.fntdata"/><Relationship Id="rId34" Type="http://schemas.openxmlformats.org/officeDocument/2006/relationships/font" Target="fonts/DMSansLight-bold.fntdata"/><Relationship Id="rId37" Type="http://schemas.openxmlformats.org/officeDocument/2006/relationships/font" Target="fonts/DMSansSemiBold-regular.fntdata"/><Relationship Id="rId36" Type="http://schemas.openxmlformats.org/officeDocument/2006/relationships/font" Target="fonts/DMSansLight-boldItalic.fntdata"/><Relationship Id="rId39" Type="http://schemas.openxmlformats.org/officeDocument/2006/relationships/font" Target="fonts/DMSansSemiBold-italic.fntdata"/><Relationship Id="rId38" Type="http://schemas.openxmlformats.org/officeDocument/2006/relationships/font" Target="fonts/DMSansSemiBold-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29" Type="http://schemas.openxmlformats.org/officeDocument/2006/relationships/font" Target="fonts/Newsreader-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mailto:Suaidaf@gmail.com"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oogle.com/search?q=%22Search+Inside+Yourself%22+%28SIY%29&amp;client=safari&amp;sca_esv=18cd3dcba5fc08bf&amp;rls=en&amp;ei=8Aczac2SL7z9ptQPm-aMgQU&amp;oq=google+emotional+in&amp;gs_lp=Egxnd3Mtd2l6LXNlcnAiE2dvb2dsZSBlbW90aW9uYWwgaW4qAggAMgsQABiABBiRAhiKBTIGEAAYFhgeMgYQABgWGB4yBhAAGBYYHjIGEAAYFhgeMgYQABgWGB4yBhAAGBYYHjIGEAAYFhgeMgYQABgWGB4yBhAAGBYYHkjwFlD2Ali9DnABeAGQAQCYAWGgAcoGqgECMTK4AQHIAQD4AQGYAg2gAo8HwgIKEAAYsAMY1gQYR8ICDRAAGIAEGLADGEMYigXCAg4QABiwAxjkAhjWBNgBAcICGRAuGIAEGLADGNEDGEMYxwEYyAMYigXYAQHCAhAQLhiABBjRAxhDGMcBGIoFwgIIEAAYgAQYsQPCAgsQABiABBixAxiDAcICHxAuGIAEGNEDGEMYxwEYigUYlwUY3AQY3gQY4ATYAQHCAhEQABiABBiRAhixAxiDARiKBcICBxAAGIAEGArCAgUQABiABMICCxAAGIAEGIYDGIoFmAMAiAYBkAYRugYGCAEQARgJkgcEMTIuMaAH40myBwQxMS4xuAeJB8IHCDAuMi4xMC4xyAcz&amp;sclient=gws-wiz-serp&amp;mstk=AUtExfCXE42AlORtmBSTS7sRZYqxXCXrPrPdCkmP0XkhyCvVYNUt1PzJFkDq0WENDqh9Hewe7XHb8h9NTODg7ACBPc1YFwhfw_LO7WVvS84mx7LKt0qdpfv-wgkfWeBdzHESFZjvDIYd3xixV_ivVWTyZx-NCpn89L3Vy1eX5p6mGEiVPaPx8FUR0ArZI-gpnghYm2G44Z_v0EB2oDySAgP9Op_L2A&amp;csui=3&amp;ved=2ahUKEwiI-Ofh7qaRAxUOCnkGHVBOMZoQgK4QegQIARAC"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a804612d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a804612d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ad53295a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ad53295a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HarbourVest that we are specifically analyzing for this project is located in Boston, Massachusetts. We were able to get a Senior Vice President, Analia Graham. Analia assists the Head of the Vanguard account in overseeing key strategic initiatives, works closely with HarbourVest portfolio managers to advance core fund activities, and partners with operations and technology teams to develop scalable solutions that support ongoing growth. The second interview took place for a junior-level position. Her name is Suaida, and her email address is </a:t>
            </a:r>
            <a:r>
              <a:rPr lang="en" sz="1200" u="sng">
                <a:solidFill>
                  <a:srgbClr val="1155CC"/>
                </a:solidFill>
                <a:latin typeface="Times New Roman"/>
                <a:ea typeface="Times New Roman"/>
                <a:cs typeface="Times New Roman"/>
                <a:sym typeface="Times New Roman"/>
                <a:hlinkClick r:id="rId2">
                  <a:extLst>
                    <a:ext uri="{A12FA001-AC4F-418D-AE19-62706E023703}">
                      <ahyp:hlinkClr val="tx"/>
                    </a:ext>
                  </a:extLst>
                </a:hlinkClick>
              </a:rPr>
              <a:t>Suaidaf@gmail.com</a:t>
            </a:r>
            <a:r>
              <a:rPr lang="en" sz="1200">
                <a:solidFill>
                  <a:schemeClr val="dk1"/>
                </a:solidFill>
                <a:latin typeface="Times New Roman"/>
                <a:ea typeface="Times New Roman"/>
                <a:cs typeface="Times New Roman"/>
                <a:sym typeface="Times New Roman"/>
              </a:rPr>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ad53295a5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ad53295a5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ad53295a5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ad53295a5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our data collectin methods w</a:t>
            </a:r>
            <a:r>
              <a:rPr lang="en"/>
              <a:t>e use mainly two forms of data: interviews and secondary research.</a:t>
            </a:r>
            <a:br>
              <a:rPr lang="en"/>
            </a:br>
            <a:br>
              <a:rPr lang="en"/>
            </a:br>
            <a:r>
              <a:rPr lang="en"/>
              <a:t>We </a:t>
            </a:r>
            <a:r>
              <a:rPr lang="en"/>
              <a:t>schedule</a:t>
            </a:r>
            <a:r>
              <a:rPr lang="en"/>
              <a:t> the interviews during week 5 and 9  for Senior Vice President Analia during Junior Level Position: Suiada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we did our own </a:t>
            </a:r>
            <a:r>
              <a:rPr lang="en"/>
              <a:t>research</a:t>
            </a:r>
            <a:r>
              <a:rPr lang="en"/>
              <a:t> more about harbourvest online and we also research </a:t>
            </a:r>
            <a:r>
              <a:rPr lang="en"/>
              <a:t>similar</a:t>
            </a:r>
            <a:r>
              <a:rPr lang="en"/>
              <a:t> private market firms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Weeks 4–5, we contacted HarbourVest employees and sent interview questions about cross-office communication. While waiting for responses, we began researching the private equity industry to understand how global investment firms manage communication across time zones.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Week 6, we interviewed Senior Vice President Analia Graham, who explained how global expansion, time differences, and remote tools slow decision-making. Weeks 6–8 were spent continuing secondary research based on her insights.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Week 9, we interviewed a junior employee in Saudi Arabia, which helped us compare how communication challenges affect different job levels. These differences showed how unclear information impacts both speed and productivity.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Weeks 10–13, we combined interview insights with our research and connected them to emotional intelligence and organizational justice. This helped explain how unclear communication leads to frustration, misalignment, and inefficiencies, and guided our recommendations to improve collaboration across HarbourVest’s global offices.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ad53295a5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ad53295a5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data showed that one of  HarbourVest’s </a:t>
            </a:r>
            <a:r>
              <a:rPr lang="en"/>
              <a:t>output</a:t>
            </a:r>
            <a:r>
              <a:rPr lang="en"/>
              <a:t> problem was the communication across each global offices. As harbourvest has over 200 different location world wide. This cause a challenge because of the different time zones which</a:t>
            </a:r>
            <a:r>
              <a:rPr lang="en"/>
              <a:t> causes</a:t>
            </a:r>
            <a:r>
              <a:rPr lang="en"/>
              <a:t> scheduling difficult, delays, repeating of information, and slower collaboration. Because most interactions happen remotely, tere is less informal conversation, which increases misunderstandings and weakens team relationships.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a management view, </a:t>
            </a:r>
            <a:r>
              <a:rPr lang="en"/>
              <a:t>scheduling</a:t>
            </a:r>
            <a:r>
              <a:rPr lang="en"/>
              <a:t> decisions and meeting across regions is hard. </a:t>
            </a:r>
            <a:r>
              <a:rPr lang="en"/>
              <a:t>The Cultural</a:t>
            </a:r>
            <a:r>
              <a:rPr lang="en"/>
              <a:t> differences in communication can lead to misunderstanding. Leaders often rely on asynchronous communication which causes even more delay.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a:t>
            </a:r>
            <a:r>
              <a:rPr lang="en"/>
              <a:t>Employees feel these issues personally. Many are unclear about priorities, confused about responsibilities in other regions, and frustrated by delays in work. Some even feel excluded from important decisions, leading to repeated work and avoidable mistakes.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Overall, these problems create misalignment, frustration, and inefficiencies for both leaders and employees, making global collaboration more difficult.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ad53295a5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ad53295a5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d53295a5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ad53295a5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ad53295a58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ad53295a5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ad53295a5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ad53295a5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a:t>
            </a:r>
            <a:r>
              <a:rPr lang="en"/>
              <a:t>rganizational justice refers to employees’ perceptions that decisions, communication, and processes within a company are fair, transparent, and consistent.  When employees are able to understand why a decision is made, and how responsibilities are administered, they have a better chance of trusting leadership and collaborating with coworkers in an efficient and effective manner. </a:t>
            </a:r>
            <a:endParaRPr/>
          </a:p>
          <a:p>
            <a:pPr indent="0" lvl="0" marL="0" rtl="0" algn="l">
              <a:spcBef>
                <a:spcPts val="0"/>
              </a:spcBef>
              <a:spcAft>
                <a:spcPts val="0"/>
              </a:spcAft>
              <a:buNone/>
            </a:pPr>
            <a:br>
              <a:rPr lang="en"/>
            </a:br>
            <a:r>
              <a:rPr lang="en"/>
              <a:t>1. Distributive Justice: Whether outcomes are fair — pay, promotions, workload, recognition.</a:t>
            </a:r>
            <a:endParaRPr/>
          </a:p>
          <a:p>
            <a:pPr indent="0" lvl="0" marL="0" rtl="0" algn="l">
              <a:spcBef>
                <a:spcPts val="0"/>
              </a:spcBef>
              <a:spcAft>
                <a:spcPts val="0"/>
              </a:spcAft>
              <a:buNone/>
            </a:pPr>
            <a:r>
              <a:rPr lang="en"/>
              <a:t>2. Procedural Justice: Whether the processes used to make decisions are fair — consistent, unbiased, transparent.</a:t>
            </a:r>
            <a:endParaRPr/>
          </a:p>
          <a:p>
            <a:pPr indent="0" lvl="0" marL="0" rtl="0" algn="l">
              <a:spcBef>
                <a:spcPts val="0"/>
              </a:spcBef>
              <a:spcAft>
                <a:spcPts val="0"/>
              </a:spcAft>
              <a:buNone/>
            </a:pPr>
            <a:r>
              <a:rPr lang="en"/>
              <a:t>3. Interactional Justice: Whether people are treated with respect, given honest explanations, and communicated with fairly.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ad53295a58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ad53295a58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instance the firms “fragmented data systems” reflect an organizational justice issue. This issue makes access to accurate and efficient information uneven across teams, what we derive from this is that during periods of tariff, financial volatility, when timely data is crucial, the differences in system functionality can feel unfair and reduce trust in the decision-making process.  Additionally employees perceive uncertainty around the implementation of Artificial Intelligence tools.  While leadership has to prioritize strategic objectives, staff may feel that the changing decisions about workload, technology, and system upgrades are not communicated transparently, aligning with research showing that inconsistent or unclear communication can undermine perceptions of fairness, even in an environment that does not lack motivation, as Suaida describes.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ad53295a5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ad53295a5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0" rtl="0" algn="l">
              <a:lnSpc>
                <a:spcPct val="200000"/>
              </a:lnSpc>
              <a:spcBef>
                <a:spcPts val="0"/>
              </a:spcBef>
              <a:spcAft>
                <a:spcPts val="0"/>
              </a:spcAft>
              <a:buNone/>
            </a:pPr>
            <a:r>
              <a:rPr lang="en" sz="1200">
                <a:solidFill>
                  <a:schemeClr val="dk1"/>
                </a:solidFill>
                <a:latin typeface="Times New Roman"/>
                <a:ea typeface="Times New Roman"/>
                <a:cs typeface="Times New Roman"/>
                <a:sym typeface="Times New Roman"/>
              </a:rPr>
              <a:t>For instance the firms “fragmented data systems” as Suaida explained, reflect an organizational justice issue.  She mentioned that “systems are not compatible with older data tools” when speaking on some struggles that she faces in her role.  Our privilege of being able to interview a high ranking executive in Analia, and a young junior employee like Suaida has shown us the disparities in what is intended to be communicated, and what is actually perceived.  Further showing us how crucial the skill of organizational justice can really be, how it is truly important for all members of a company to have a deep understanding of choices made, how information is shared, and how responsibilities are distributed.  As HarbourVest navigates AI integration and rapid global expansion, transparent decision-making becomes essential.  Without clear explanations of priorities, trade-offs, or system changes, employees may feel uncertain about the fairness of resource allocation or strategic choices, which contributes to delays, confusion, and fragmented workflows.</a:t>
            </a:r>
            <a:endParaRPr sz="1200">
              <a:solidFill>
                <a:schemeClr val="dk1"/>
              </a:solidFill>
              <a:latin typeface="Times New Roman"/>
              <a:ea typeface="Times New Roman"/>
              <a:cs typeface="Times New Roman"/>
              <a:sym typeface="Times New Roman"/>
            </a:endParaRPr>
          </a:p>
          <a:p>
            <a:pPr indent="457200" lvl="0" marL="0" rtl="0" algn="l">
              <a:lnSpc>
                <a:spcPct val="200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d53295a58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ad53295a58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HarbourVest faces communication challenges due to globally distributed teams working across different time zones and cultures. Over-reliance on virtual tools like Zoom creates scheduling delays, misunderstandings, and disruptions in workflow coordination.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address this, we recommend implementing </a:t>
            </a:r>
            <a:r>
              <a:rPr b="1" lang="en">
                <a:solidFill>
                  <a:schemeClr val="dk1"/>
                </a:solidFill>
              </a:rPr>
              <a:t>emotional intelligence (EI)–based leadership and communication training</a:t>
            </a:r>
            <a:r>
              <a:rPr lang="en">
                <a:solidFill>
                  <a:schemeClr val="dk1"/>
                </a:solidFill>
              </a:rPr>
              <a:t> across all offices. Training would focus on empathy, active listening, cultural awareness, and clear communication. In addition, we propose </a:t>
            </a:r>
            <a:r>
              <a:rPr b="1" lang="en">
                <a:solidFill>
                  <a:schemeClr val="dk1"/>
                </a:solidFill>
              </a:rPr>
              <a:t>regular “clarity check-ins”</a:t>
            </a:r>
            <a:r>
              <a:rPr lang="en">
                <a:solidFill>
                  <a:schemeClr val="dk1"/>
                </a:solidFill>
              </a:rPr>
              <a:t> for global project teams to surface concerns early, strengthen collaboration, and prevent conflicts or inefficiencies.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Strengthening EI skills will help reduce miscommunication, disengagement, and cultural friction while building a more supportive and high-performing work environment. Major companies like </a:t>
            </a:r>
            <a:r>
              <a:rPr b="1" lang="en">
                <a:solidFill>
                  <a:schemeClr val="dk1"/>
                </a:solidFill>
              </a:rPr>
              <a:t>Microsoft and Google</a:t>
            </a:r>
            <a:r>
              <a:rPr lang="en">
                <a:solidFill>
                  <a:schemeClr val="dk1"/>
                </a:solidFill>
              </a:rPr>
              <a:t> have adopted similar approaches to improve teamwork and retention.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d53295a58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ad53295a58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0" rtl="0" algn="l">
              <a:lnSpc>
                <a:spcPct val="200000"/>
              </a:lnSpc>
              <a:spcBef>
                <a:spcPts val="0"/>
              </a:spcBef>
              <a:spcAft>
                <a:spcPts val="0"/>
              </a:spcAft>
              <a:buNone/>
            </a:pPr>
            <a:r>
              <a:rPr lang="en" sz="1200">
                <a:solidFill>
                  <a:schemeClr val="dk1"/>
                </a:solidFill>
                <a:latin typeface="Times New Roman"/>
                <a:ea typeface="Times New Roman"/>
                <a:cs typeface="Times New Roman"/>
                <a:sym typeface="Times New Roman"/>
              </a:rPr>
              <a:t>Of course, there are potential downsides, just like any other recommendation. Some leaders or staff may view emotional intelligence training as “non-essential” or too “soft”, leading to a limited buy-in from employees. The time required for training and check ins, may also reduce time spent on billable or revenue generating work. There is also a risk that emphasizing emotional well being too heavily could soften accountability or slow decision making, especially in a fast paced investment environment like private markets.</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Google defines emotional intelligence (EI) as understanding and managing your own and others' emotions, crucial for leadership, teamwork, and navigating work, famously developing the </a:t>
            </a:r>
            <a:r>
              <a:rPr lang="en" sz="1200" u="sng">
                <a:solidFill>
                  <a:schemeClr val="dk1"/>
                </a:solidFill>
                <a:latin typeface="Roboto"/>
                <a:ea typeface="Roboto"/>
                <a:cs typeface="Roboto"/>
                <a:sym typeface="Roboto"/>
                <a:hlinkClick r:id="rId2">
                  <a:extLst>
                    <a:ext uri="{A12FA001-AC4F-418D-AE19-62706E023703}">
                      <ahyp:hlinkClr val="tx"/>
                    </a:ext>
                  </a:extLst>
                </a:hlinkClick>
              </a:rPr>
              <a:t>"Search Inside Yourself" (SIY)</a:t>
            </a:r>
            <a:r>
              <a:rPr lang="en" sz="1200">
                <a:solidFill>
                  <a:schemeClr val="dk1"/>
                </a:solidFill>
                <a:latin typeface="Roboto"/>
                <a:ea typeface="Roboto"/>
                <a:cs typeface="Roboto"/>
                <a:sym typeface="Roboto"/>
              </a:rPr>
              <a:t> program based on mindfulness and neuroscience to build skills like self-awareness, self-regulation, empathy, and motivation</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ad53295a58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ad53295a58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ad53295a58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ad53295a58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ad53295a5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ad53295a5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adabdd13c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adabdd13c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ad53295a58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ad53295a58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54" name="Shape 54"/>
        <p:cNvGrpSpPr/>
        <p:nvPr/>
      </p:nvGrpSpPr>
      <p:grpSpPr>
        <a:xfrm>
          <a:off x="0" y="0"/>
          <a:ext cx="0" cy="0"/>
          <a:chOff x="0" y="0"/>
          <a:chExt cx="0" cy="0"/>
        </a:xfrm>
      </p:grpSpPr>
      <p:sp>
        <p:nvSpPr>
          <p:cNvPr id="55" name="Google Shape;55;p14"/>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6" name="Google Shape;56;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58" name="Shape 58"/>
        <p:cNvGrpSpPr/>
        <p:nvPr/>
      </p:nvGrpSpPr>
      <p:grpSpPr>
        <a:xfrm>
          <a:off x="0" y="0"/>
          <a:ext cx="0" cy="0"/>
          <a:chOff x="0" y="0"/>
          <a:chExt cx="0" cy="0"/>
        </a:xfrm>
      </p:grpSpPr>
      <p:sp>
        <p:nvSpPr>
          <p:cNvPr id="59" name="Google Shape;59;p15"/>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60" name="Google Shape;60;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62" name="Google Shape;62;p15"/>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5"/>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66" name="Shape 66"/>
        <p:cNvGrpSpPr/>
        <p:nvPr/>
      </p:nvGrpSpPr>
      <p:grpSpPr>
        <a:xfrm>
          <a:off x="0" y="0"/>
          <a:ext cx="0" cy="0"/>
          <a:chOff x="0" y="0"/>
          <a:chExt cx="0" cy="0"/>
        </a:xfrm>
      </p:grpSpPr>
      <p:sp>
        <p:nvSpPr>
          <p:cNvPr id="67" name="Google Shape;67;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6"/>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69" name="Google Shape;69;p16"/>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71" name="Shape 71"/>
        <p:cNvGrpSpPr/>
        <p:nvPr/>
      </p:nvGrpSpPr>
      <p:grpSpPr>
        <a:xfrm>
          <a:off x="0" y="0"/>
          <a:ext cx="0" cy="0"/>
          <a:chOff x="0" y="0"/>
          <a:chExt cx="0" cy="0"/>
        </a:xfrm>
      </p:grpSpPr>
      <p:sp>
        <p:nvSpPr>
          <p:cNvPr id="72" name="Google Shape;72;p17"/>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3" name="Google Shape;73;p17"/>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74" name="Google Shape;74;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7"/>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6" name="Google Shape;76;p17"/>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8" name="Google Shape;78;p17"/>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9" name="Google Shape;79;p17"/>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0" name="Google Shape;80;p17"/>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81" name="Shape 81"/>
        <p:cNvGrpSpPr/>
        <p:nvPr/>
      </p:nvGrpSpPr>
      <p:grpSpPr>
        <a:xfrm>
          <a:off x="0" y="0"/>
          <a:ext cx="0" cy="0"/>
          <a:chOff x="0" y="0"/>
          <a:chExt cx="0" cy="0"/>
        </a:xfrm>
      </p:grpSpPr>
      <p:sp>
        <p:nvSpPr>
          <p:cNvPr id="82" name="Google Shape;82;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83" name="Google Shape;83;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85" name="Google Shape;85;p1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86" name="Google Shape;86;p1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87" name="Google Shape;87;p1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8" name="Google Shape;88;p1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89" name="Google Shape;89;p1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0" name="Google Shape;90;p1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91" name="Google Shape;91;p1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92" name="Shape 92"/>
        <p:cNvGrpSpPr/>
        <p:nvPr/>
      </p:nvGrpSpPr>
      <p:grpSpPr>
        <a:xfrm>
          <a:off x="0" y="0"/>
          <a:ext cx="0" cy="0"/>
          <a:chOff x="0" y="0"/>
          <a:chExt cx="0" cy="0"/>
        </a:xfrm>
      </p:grpSpPr>
      <p:sp>
        <p:nvSpPr>
          <p:cNvPr id="93" name="Google Shape;93;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9"/>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95" name="Google Shape;95;p19"/>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96" name="Google Shape;96;p1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97" name="Google Shape;97;p19"/>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9"/>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99" name="Google Shape;99;p19"/>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0" name="Google Shape;100;p19"/>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01" name="Google Shape;101;p19"/>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02" name="Google Shape;102;p19"/>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6" name="Google Shape;106;p20"/>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07" name="Google Shape;107;p20"/>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8" name="Google Shape;108;p20"/>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09" name="Google Shape;109;p20"/>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10" name="Google Shape;110;p20"/>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11" name="Google Shape;111;p20"/>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2" name="Google Shape;112;p20"/>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13" name="Google Shape;113;p20"/>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21"/>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16" name="Google Shape;116;p21"/>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7" name="Google Shape;117;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9" name="Google Shape;119;p21"/>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20" name="Google Shape;120;p21"/>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1" name="Google Shape;121;p21"/>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22" name="Google Shape;122;p21"/>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3" name="Google Shape;123;p21"/>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24" name="Google Shape;124;p21"/>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5" name="Google Shape;125;p21"/>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26" name="Google Shape;126;p21"/>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127" name="Shape 127"/>
        <p:cNvGrpSpPr/>
        <p:nvPr/>
      </p:nvGrpSpPr>
      <p:grpSpPr>
        <a:xfrm>
          <a:off x="0" y="0"/>
          <a:ext cx="0" cy="0"/>
          <a:chOff x="0" y="0"/>
          <a:chExt cx="0" cy="0"/>
        </a:xfrm>
      </p:grpSpPr>
      <p:sp>
        <p:nvSpPr>
          <p:cNvPr id="128" name="Google Shape;128;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2"/>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131" name="Google Shape;131;p22"/>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2" name="Google Shape;132;p22"/>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3" name="Google Shape;133;p22"/>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134" name="Google Shape;134;p22"/>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5" name="Google Shape;135;p22"/>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6" name="Google Shape;136;p22"/>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7" name="Google Shape;137;p22"/>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8" name="Google Shape;138;p22"/>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9" name="Google Shape;139;p22"/>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0" name="Google Shape;140;p22"/>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1" name="Google Shape;141;p22"/>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42" name="Shape 142"/>
        <p:cNvGrpSpPr/>
        <p:nvPr/>
      </p:nvGrpSpPr>
      <p:grpSpPr>
        <a:xfrm>
          <a:off x="0" y="0"/>
          <a:ext cx="0" cy="0"/>
          <a:chOff x="0" y="0"/>
          <a:chExt cx="0" cy="0"/>
        </a:xfrm>
      </p:grpSpPr>
      <p:sp>
        <p:nvSpPr>
          <p:cNvPr id="143" name="Google Shape;143;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5" name="Google Shape;145;p23"/>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6" name="Google Shape;146;p23"/>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47" name="Google Shape;147;p23"/>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48" name="Google Shape;148;p23"/>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9" name="Google Shape;149;p23"/>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0" name="Google Shape;150;p23"/>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1" name="Google Shape;151;p23"/>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2" name="Google Shape;152;p23"/>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3" name="Google Shape;153;p23"/>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4" name="Google Shape;154;p23"/>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5" name="Google Shape;155;p23"/>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6" name="Google Shape;156;p23"/>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7" name="Google Shape;157;p23"/>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58" name="Google Shape;158;p23"/>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4587725" y="-8750"/>
            <a:ext cx="4572000" cy="5152200"/>
          </a:xfrm>
          <a:prstGeom prst="rect">
            <a:avLst/>
          </a:prstGeom>
          <a:noFill/>
          <a:ln>
            <a:noFill/>
          </a:ln>
        </p:spPr>
      </p:sp>
      <p:sp>
        <p:nvSpPr>
          <p:cNvPr id="161" name="Google Shape;161;p24"/>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62" name="Google Shape;162;p24"/>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63" name="Google Shape;163;p24"/>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64" name="Shape 164"/>
        <p:cNvGrpSpPr/>
        <p:nvPr/>
      </p:nvGrpSpPr>
      <p:grpSpPr>
        <a:xfrm>
          <a:off x="0" y="0"/>
          <a:ext cx="0" cy="0"/>
          <a:chOff x="0" y="0"/>
          <a:chExt cx="0" cy="0"/>
        </a:xfrm>
      </p:grpSpPr>
      <p:sp>
        <p:nvSpPr>
          <p:cNvPr id="165" name="Google Shape;165;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7" name="Google Shape;167;p25"/>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8" name="Google Shape;168;p25"/>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9" name="Google Shape;169;p25"/>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0" name="Google Shape;170;p25"/>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1" name="Google Shape;171;p25"/>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72" name="Google Shape;172;p25"/>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73" name="Google Shape;173;p25"/>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74" name="Google Shape;174;p25"/>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75" name="Google Shape;175;p25"/>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76" name="Google Shape;176;p25"/>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5"/>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78" name="Google Shape;178;p25"/>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9" name="Google Shape;179;p25"/>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80" name="Google Shape;180;p25"/>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5"/>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82" name="Google Shape;182;p25"/>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25"/>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84" name="Shape 184"/>
        <p:cNvGrpSpPr/>
        <p:nvPr/>
      </p:nvGrpSpPr>
      <p:grpSpPr>
        <a:xfrm>
          <a:off x="0" y="0"/>
          <a:ext cx="0" cy="0"/>
          <a:chOff x="0" y="0"/>
          <a:chExt cx="0" cy="0"/>
        </a:xfrm>
      </p:grpSpPr>
      <p:sp>
        <p:nvSpPr>
          <p:cNvPr id="185" name="Google Shape;185;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26"/>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88" name="Google Shape;188;p26"/>
          <p:cNvSpPr/>
          <p:nvPr>
            <p:ph idx="2" type="pic"/>
          </p:nvPr>
        </p:nvSpPr>
        <p:spPr>
          <a:xfrm>
            <a:off x="1442350" y="3492500"/>
            <a:ext cx="408900" cy="408900"/>
          </a:xfrm>
          <a:prstGeom prst="ellipse">
            <a:avLst/>
          </a:prstGeom>
          <a:noFill/>
          <a:ln>
            <a:noFill/>
          </a:ln>
        </p:spPr>
      </p:sp>
      <p:sp>
        <p:nvSpPr>
          <p:cNvPr id="189" name="Google Shape;189;p26"/>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90" name="Google Shape;190;p26"/>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2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4" name="Google Shape;194;p27"/>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95" name="Google Shape;195;p27"/>
          <p:cNvSpPr/>
          <p:nvPr>
            <p:ph idx="2" type="pic"/>
          </p:nvPr>
        </p:nvSpPr>
        <p:spPr>
          <a:xfrm>
            <a:off x="1442350" y="3492500"/>
            <a:ext cx="408900" cy="408900"/>
          </a:xfrm>
          <a:prstGeom prst="ellipse">
            <a:avLst/>
          </a:prstGeom>
          <a:noFill/>
          <a:ln>
            <a:noFill/>
          </a:ln>
        </p:spPr>
      </p:sp>
      <p:sp>
        <p:nvSpPr>
          <p:cNvPr id="196" name="Google Shape;196;p27"/>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97" name="Google Shape;197;p27"/>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98" name="Shape 198"/>
        <p:cNvGrpSpPr/>
        <p:nvPr/>
      </p:nvGrpSpPr>
      <p:grpSpPr>
        <a:xfrm>
          <a:off x="0" y="0"/>
          <a:ext cx="0" cy="0"/>
          <a:chOff x="0" y="0"/>
          <a:chExt cx="0" cy="0"/>
        </a:xfrm>
      </p:grpSpPr>
      <p:sp>
        <p:nvSpPr>
          <p:cNvPr id="199" name="Google Shape;199;p2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0" name="Google Shape;200;p2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1" name="Google Shape;201;p2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2" name="Google Shape;202;p28"/>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203" name="Google Shape;203;p28"/>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04" name="Google Shape;204;p28"/>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5" name="Google Shape;205;p28"/>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6" name="Google Shape;206;p28"/>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07" name="Google Shape;207;p28"/>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208" name="Google Shape;208;p28"/>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09" name="Google Shape;209;p28"/>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0" name="Google Shape;210;p28"/>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211" name="Shape 211"/>
        <p:cNvGrpSpPr/>
        <p:nvPr/>
      </p:nvGrpSpPr>
      <p:grpSpPr>
        <a:xfrm>
          <a:off x="0" y="0"/>
          <a:ext cx="0" cy="0"/>
          <a:chOff x="0" y="0"/>
          <a:chExt cx="0" cy="0"/>
        </a:xfrm>
      </p:grpSpPr>
      <p:sp>
        <p:nvSpPr>
          <p:cNvPr id="212" name="Google Shape;212;p2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3" name="Google Shape;213;p2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4" name="Google Shape;214;p2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29"/>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6" name="Google Shape;216;p29"/>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17" name="Google Shape;217;p29"/>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218" name="Google Shape;218;p29"/>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9" name="Google Shape;219;p29"/>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0" name="Google Shape;220;p29"/>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1" name="Google Shape;221;p29"/>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2" name="Google Shape;222;p29"/>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3" name="Google Shape;223;p29"/>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24" name="Google Shape;224;p29"/>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5" name="Google Shape;225;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226" name="Shape 226"/>
        <p:cNvGrpSpPr/>
        <p:nvPr/>
      </p:nvGrpSpPr>
      <p:grpSpPr>
        <a:xfrm>
          <a:off x="0" y="0"/>
          <a:ext cx="0" cy="0"/>
          <a:chOff x="0" y="0"/>
          <a:chExt cx="0" cy="0"/>
        </a:xfrm>
      </p:grpSpPr>
      <p:sp>
        <p:nvSpPr>
          <p:cNvPr id="227" name="Google Shape;227;p3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8" name="Google Shape;228;p30"/>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9" name="Google Shape;229;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0"/>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231" name="Google Shape;231;p30"/>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232" name="Google Shape;232;p30"/>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33" name="Google Shape;233;p30"/>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34" name="Google Shape;234;p30"/>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235" name="Shape 235"/>
        <p:cNvGrpSpPr/>
        <p:nvPr/>
      </p:nvGrpSpPr>
      <p:grpSpPr>
        <a:xfrm>
          <a:off x="0" y="0"/>
          <a:ext cx="0" cy="0"/>
          <a:chOff x="0" y="0"/>
          <a:chExt cx="0" cy="0"/>
        </a:xfrm>
      </p:grpSpPr>
      <p:sp>
        <p:nvSpPr>
          <p:cNvPr id="236" name="Google Shape;236;p3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1"/>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1"/>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240" name="Shape 240"/>
        <p:cNvGrpSpPr/>
        <p:nvPr/>
      </p:nvGrpSpPr>
      <p:grpSpPr>
        <a:xfrm>
          <a:off x="0" y="0"/>
          <a:ext cx="0" cy="0"/>
          <a:chOff x="0" y="0"/>
          <a:chExt cx="0" cy="0"/>
        </a:xfrm>
      </p:grpSpPr>
      <p:sp>
        <p:nvSpPr>
          <p:cNvPr id="241" name="Google Shape;241;p32"/>
          <p:cNvSpPr/>
          <p:nvPr>
            <p:ph idx="2" type="pic"/>
          </p:nvPr>
        </p:nvSpPr>
        <p:spPr>
          <a:xfrm>
            <a:off x="6289075" y="1793300"/>
            <a:ext cx="2853300" cy="3350400"/>
          </a:xfrm>
          <a:prstGeom prst="rect">
            <a:avLst/>
          </a:prstGeom>
          <a:noFill/>
          <a:ln>
            <a:noFill/>
          </a:ln>
        </p:spPr>
      </p:sp>
      <p:sp>
        <p:nvSpPr>
          <p:cNvPr id="242" name="Google Shape;242;p32"/>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243" name="Google Shape;243;p32"/>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244" name="Google Shape;244;p32"/>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45" name="Google Shape;245;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32"/>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47" name="Shape 247"/>
        <p:cNvGrpSpPr/>
        <p:nvPr/>
      </p:nvGrpSpPr>
      <p:grpSpPr>
        <a:xfrm>
          <a:off x="0" y="0"/>
          <a:ext cx="0" cy="0"/>
          <a:chOff x="0" y="0"/>
          <a:chExt cx="0" cy="0"/>
        </a:xfrm>
      </p:grpSpPr>
      <p:sp>
        <p:nvSpPr>
          <p:cNvPr id="248" name="Google Shape;248;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33"/>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1" name="Google Shape;251;p33"/>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52" name="Google Shape;252;p33"/>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53" name="Google Shape;253;p33"/>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54" name="Shape 254"/>
        <p:cNvGrpSpPr/>
        <p:nvPr/>
      </p:nvGrpSpPr>
      <p:grpSpPr>
        <a:xfrm>
          <a:off x="0" y="0"/>
          <a:ext cx="0" cy="0"/>
          <a:chOff x="0" y="0"/>
          <a:chExt cx="0" cy="0"/>
        </a:xfrm>
      </p:grpSpPr>
      <p:sp>
        <p:nvSpPr>
          <p:cNvPr id="255" name="Google Shape;255;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34"/>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58" name="Google Shape;258;p34"/>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59" name="Google Shape;259;p34"/>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60" name="Shape 260"/>
        <p:cNvGrpSpPr/>
        <p:nvPr/>
      </p:nvGrpSpPr>
      <p:grpSpPr>
        <a:xfrm>
          <a:off x="0" y="0"/>
          <a:ext cx="0" cy="0"/>
          <a:chOff x="0" y="0"/>
          <a:chExt cx="0" cy="0"/>
        </a:xfrm>
      </p:grpSpPr>
      <p:sp>
        <p:nvSpPr>
          <p:cNvPr id="261" name="Google Shape;261;p35"/>
          <p:cNvSpPr/>
          <p:nvPr>
            <p:ph idx="2" type="pic"/>
          </p:nvPr>
        </p:nvSpPr>
        <p:spPr>
          <a:xfrm>
            <a:off x="361975" y="781775"/>
            <a:ext cx="2872800" cy="3783300"/>
          </a:xfrm>
          <a:prstGeom prst="rect">
            <a:avLst/>
          </a:prstGeom>
          <a:noFill/>
          <a:ln>
            <a:noFill/>
          </a:ln>
        </p:spPr>
      </p:sp>
      <p:sp>
        <p:nvSpPr>
          <p:cNvPr id="262" name="Google Shape;262;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3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64" name="Google Shape;264;p35"/>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65" name="Google Shape;265;p35"/>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66" name="Google Shape;266;p35"/>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67" name="Shape 267"/>
        <p:cNvGrpSpPr/>
        <p:nvPr/>
      </p:nvGrpSpPr>
      <p:grpSpPr>
        <a:xfrm>
          <a:off x="0" y="0"/>
          <a:ext cx="0" cy="0"/>
          <a:chOff x="0" y="0"/>
          <a:chExt cx="0" cy="0"/>
        </a:xfrm>
      </p:grpSpPr>
      <p:pic>
        <p:nvPicPr>
          <p:cNvPr descr="The reflective glass facade of a skyscraper. " id="268" name="Google Shape;268;p36"/>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69" name="Google Shape;269;p3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3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6"/>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72" name="Google Shape;272;p36"/>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73" name="Google Shape;273;p36"/>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74" name="Google Shape;274;p3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75" name="Shape 275"/>
        <p:cNvGrpSpPr/>
        <p:nvPr/>
      </p:nvGrpSpPr>
      <p:grpSpPr>
        <a:xfrm>
          <a:off x="0" y="0"/>
          <a:ext cx="0" cy="0"/>
          <a:chOff x="0" y="0"/>
          <a:chExt cx="0" cy="0"/>
        </a:xfrm>
      </p:grpSpPr>
      <p:pic>
        <p:nvPicPr>
          <p:cNvPr descr="A modern glass skyscraper. " id="276" name="Google Shape;276;p37"/>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77" name="Google Shape;277;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3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7"/>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80" name="Google Shape;280;p37"/>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81" name="Shape 281"/>
        <p:cNvGrpSpPr/>
        <p:nvPr/>
      </p:nvGrpSpPr>
      <p:grpSpPr>
        <a:xfrm>
          <a:off x="0" y="0"/>
          <a:ext cx="0" cy="0"/>
          <a:chOff x="0" y="0"/>
          <a:chExt cx="0" cy="0"/>
        </a:xfrm>
      </p:grpSpPr>
      <p:cxnSp>
        <p:nvCxnSpPr>
          <p:cNvPr id="282" name="Google Shape;282;p38"/>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38"/>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4" name="Google Shape;284;p38"/>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85" name="Google Shape;285;p38"/>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86" name="Google Shape;286;p38"/>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87" name="Google Shape;287;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3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9" name="Google Shape;289;p38"/>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0" name="Google Shape;290;p38"/>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1" name="Google Shape;291;p38"/>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2" name="Google Shape;292;p38"/>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3" name="Google Shape;293;p38"/>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4" name="Google Shape;294;p38"/>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5" name="Google Shape;295;p38"/>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6" name="Google Shape;296;p38"/>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7" name="Google Shape;297;p38"/>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8" name="Google Shape;298;p38"/>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9" name="Google Shape;299;p38"/>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300" name="Shape 300"/>
        <p:cNvGrpSpPr/>
        <p:nvPr/>
      </p:nvGrpSpPr>
      <p:grpSpPr>
        <a:xfrm>
          <a:off x="0" y="0"/>
          <a:ext cx="0" cy="0"/>
          <a:chOff x="0" y="0"/>
          <a:chExt cx="0" cy="0"/>
        </a:xfrm>
      </p:grpSpPr>
      <p:sp>
        <p:nvSpPr>
          <p:cNvPr id="301" name="Google Shape;301;p39"/>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02" name="Google Shape;302;p39"/>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03" name="Google Shape;303;p39"/>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304" name="Google Shape;304;p39"/>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05" name="Google Shape;305;p39"/>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7" name="Google Shape;307;p39"/>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39"/>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9" name="Google Shape;309;p39"/>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0" name="Google Shape;310;p39"/>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1" name="Google Shape;311;p39"/>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2" name="Google Shape;312;p39"/>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3" name="Google Shape;313;p39"/>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314" name="Shape 314"/>
        <p:cNvGrpSpPr/>
        <p:nvPr/>
      </p:nvGrpSpPr>
      <p:grpSpPr>
        <a:xfrm>
          <a:off x="0" y="0"/>
          <a:ext cx="0" cy="0"/>
          <a:chOff x="0" y="0"/>
          <a:chExt cx="0" cy="0"/>
        </a:xfrm>
      </p:grpSpPr>
      <p:sp>
        <p:nvSpPr>
          <p:cNvPr id="315" name="Google Shape;315;p40"/>
          <p:cNvSpPr/>
          <p:nvPr>
            <p:ph idx="2" type="pic"/>
          </p:nvPr>
        </p:nvSpPr>
        <p:spPr>
          <a:xfrm>
            <a:off x="75" y="0"/>
            <a:ext cx="2853300" cy="2436600"/>
          </a:xfrm>
          <a:prstGeom prst="rect">
            <a:avLst/>
          </a:prstGeom>
          <a:noFill/>
          <a:ln>
            <a:noFill/>
          </a:ln>
        </p:spPr>
      </p:sp>
      <p:sp>
        <p:nvSpPr>
          <p:cNvPr id="316" name="Google Shape;316;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17" name="Google Shape;317;p40"/>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318" name="Shape 318"/>
        <p:cNvGrpSpPr/>
        <p:nvPr/>
      </p:nvGrpSpPr>
      <p:grpSpPr>
        <a:xfrm>
          <a:off x="0" y="0"/>
          <a:ext cx="0" cy="0"/>
          <a:chOff x="0" y="0"/>
          <a:chExt cx="0" cy="0"/>
        </a:xfrm>
      </p:grpSpPr>
      <p:sp>
        <p:nvSpPr>
          <p:cNvPr id="319" name="Google Shape;319;p41"/>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0" name="Google Shape;320;p41"/>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1" name="Google Shape;321;p41"/>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2" name="Google Shape;322;p41"/>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3" name="Google Shape;323;p41"/>
          <p:cNvSpPr/>
          <p:nvPr>
            <p:ph idx="5" type="pic"/>
          </p:nvPr>
        </p:nvSpPr>
        <p:spPr>
          <a:xfrm>
            <a:off x="2941550" y="1923334"/>
            <a:ext cx="991800" cy="991800"/>
          </a:xfrm>
          <a:prstGeom prst="rect">
            <a:avLst/>
          </a:prstGeom>
          <a:noFill/>
          <a:ln>
            <a:noFill/>
          </a:ln>
        </p:spPr>
      </p:sp>
      <p:sp>
        <p:nvSpPr>
          <p:cNvPr id="324" name="Google Shape;324;p41"/>
          <p:cNvSpPr/>
          <p:nvPr>
            <p:ph idx="6" type="pic"/>
          </p:nvPr>
        </p:nvSpPr>
        <p:spPr>
          <a:xfrm>
            <a:off x="5227063" y="1923334"/>
            <a:ext cx="991800" cy="991800"/>
          </a:xfrm>
          <a:prstGeom prst="rect">
            <a:avLst/>
          </a:prstGeom>
          <a:noFill/>
          <a:ln>
            <a:noFill/>
          </a:ln>
        </p:spPr>
      </p:sp>
      <p:sp>
        <p:nvSpPr>
          <p:cNvPr id="325" name="Google Shape;325;p41"/>
          <p:cNvSpPr/>
          <p:nvPr>
            <p:ph idx="7" type="pic"/>
          </p:nvPr>
        </p:nvSpPr>
        <p:spPr>
          <a:xfrm>
            <a:off x="7495263" y="1923334"/>
            <a:ext cx="991800" cy="991800"/>
          </a:xfrm>
          <a:prstGeom prst="rect">
            <a:avLst/>
          </a:prstGeom>
          <a:noFill/>
          <a:ln>
            <a:noFill/>
          </a:ln>
        </p:spPr>
      </p:sp>
      <p:cxnSp>
        <p:nvCxnSpPr>
          <p:cNvPr id="326" name="Google Shape;326;p41"/>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7" name="Google Shape;327;p41"/>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8" name="Google Shape;328;p41"/>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329" name="Google Shape;329;p41"/>
          <p:cNvSpPr/>
          <p:nvPr>
            <p:ph idx="8" type="pic"/>
          </p:nvPr>
        </p:nvSpPr>
        <p:spPr>
          <a:xfrm>
            <a:off x="651288" y="1923334"/>
            <a:ext cx="991800" cy="991800"/>
          </a:xfrm>
          <a:prstGeom prst="rect">
            <a:avLst/>
          </a:prstGeom>
          <a:noFill/>
          <a:ln>
            <a:noFill/>
          </a:ln>
        </p:spPr>
      </p:sp>
      <p:sp>
        <p:nvSpPr>
          <p:cNvPr id="330" name="Google Shape;330;p41"/>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331" name="Google Shape;331;p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2" name="Google Shape;332;p41"/>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33" name="Google Shape;333;p41"/>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4" name="Google Shape;334;p41"/>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5" name="Google Shape;335;p41"/>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6" name="Google Shape;336;p41"/>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7" name="Google Shape;337;p41"/>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8" name="Google Shape;338;p41"/>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9" name="Google Shape;339;p41"/>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0" name="Google Shape;340;p41"/>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1" name="Google Shape;341;p41"/>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42" name="Google Shape;342;p41"/>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3" name="Google Shape;343;p41"/>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4" name="Google Shape;344;p41"/>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45" name="Shape 345"/>
        <p:cNvGrpSpPr/>
        <p:nvPr/>
      </p:nvGrpSpPr>
      <p:grpSpPr>
        <a:xfrm>
          <a:off x="0" y="0"/>
          <a:ext cx="0" cy="0"/>
          <a:chOff x="0" y="0"/>
          <a:chExt cx="0" cy="0"/>
        </a:xfrm>
      </p:grpSpPr>
      <p:sp>
        <p:nvSpPr>
          <p:cNvPr id="346" name="Google Shape;346;p42"/>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47" name="Google Shape;347;p42"/>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8" name="Google Shape;348;p42"/>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49" name="Google Shape;349;p42"/>
          <p:cNvSpPr/>
          <p:nvPr>
            <p:ph idx="4" type="pic"/>
          </p:nvPr>
        </p:nvSpPr>
        <p:spPr>
          <a:xfrm>
            <a:off x="6080709" y="1066100"/>
            <a:ext cx="530400" cy="530400"/>
          </a:xfrm>
          <a:prstGeom prst="rect">
            <a:avLst/>
          </a:prstGeom>
          <a:noFill/>
          <a:ln>
            <a:noFill/>
          </a:ln>
        </p:spPr>
      </p:sp>
      <p:sp>
        <p:nvSpPr>
          <p:cNvPr id="350" name="Google Shape;350;p42"/>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1" name="Google Shape;351;p42"/>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2" name="Google Shape;352;p42"/>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3" name="Google Shape;353;p42"/>
          <p:cNvSpPr/>
          <p:nvPr>
            <p:ph idx="8" type="pic"/>
          </p:nvPr>
        </p:nvSpPr>
        <p:spPr>
          <a:xfrm>
            <a:off x="3154659" y="1066100"/>
            <a:ext cx="530400" cy="530400"/>
          </a:xfrm>
          <a:prstGeom prst="rect">
            <a:avLst/>
          </a:prstGeom>
          <a:noFill/>
          <a:ln>
            <a:noFill/>
          </a:ln>
        </p:spPr>
      </p:sp>
      <p:sp>
        <p:nvSpPr>
          <p:cNvPr id="354" name="Google Shape;354;p42"/>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5" name="Google Shape;355;p42"/>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6" name="Google Shape;356;p42"/>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7" name="Google Shape;357;p42"/>
          <p:cNvSpPr/>
          <p:nvPr>
            <p:ph idx="15" type="pic"/>
          </p:nvPr>
        </p:nvSpPr>
        <p:spPr>
          <a:xfrm>
            <a:off x="6080709" y="1975864"/>
            <a:ext cx="530400" cy="530400"/>
          </a:xfrm>
          <a:prstGeom prst="rect">
            <a:avLst/>
          </a:prstGeom>
          <a:noFill/>
          <a:ln>
            <a:noFill/>
          </a:ln>
        </p:spPr>
      </p:sp>
      <p:sp>
        <p:nvSpPr>
          <p:cNvPr id="358" name="Google Shape;358;p42"/>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9" name="Google Shape;359;p42"/>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0" name="Google Shape;360;p42"/>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1" name="Google Shape;361;p42"/>
          <p:cNvSpPr/>
          <p:nvPr>
            <p:ph idx="19" type="pic"/>
          </p:nvPr>
        </p:nvSpPr>
        <p:spPr>
          <a:xfrm>
            <a:off x="3154659" y="1975864"/>
            <a:ext cx="530400" cy="530400"/>
          </a:xfrm>
          <a:prstGeom prst="rect">
            <a:avLst/>
          </a:prstGeom>
          <a:noFill/>
          <a:ln>
            <a:noFill/>
          </a:ln>
        </p:spPr>
      </p:sp>
      <p:sp>
        <p:nvSpPr>
          <p:cNvPr id="362" name="Google Shape;362;p42"/>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3" name="Google Shape;363;p42"/>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4" name="Google Shape;364;p42"/>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5" name="Google Shape;365;p42"/>
          <p:cNvSpPr/>
          <p:nvPr>
            <p:ph idx="23" type="pic"/>
          </p:nvPr>
        </p:nvSpPr>
        <p:spPr>
          <a:xfrm>
            <a:off x="6080709" y="2883852"/>
            <a:ext cx="530400" cy="530400"/>
          </a:xfrm>
          <a:prstGeom prst="rect">
            <a:avLst/>
          </a:prstGeom>
          <a:noFill/>
          <a:ln>
            <a:noFill/>
          </a:ln>
        </p:spPr>
      </p:sp>
      <p:sp>
        <p:nvSpPr>
          <p:cNvPr id="366" name="Google Shape;366;p42"/>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7" name="Google Shape;367;p42"/>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42"/>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9" name="Google Shape;369;p42"/>
          <p:cNvSpPr/>
          <p:nvPr>
            <p:ph idx="27" type="pic"/>
          </p:nvPr>
        </p:nvSpPr>
        <p:spPr>
          <a:xfrm>
            <a:off x="3154659" y="2883852"/>
            <a:ext cx="530400" cy="530400"/>
          </a:xfrm>
          <a:prstGeom prst="rect">
            <a:avLst/>
          </a:prstGeom>
          <a:noFill/>
          <a:ln>
            <a:noFill/>
          </a:ln>
        </p:spPr>
      </p:sp>
      <p:sp>
        <p:nvSpPr>
          <p:cNvPr id="370" name="Google Shape;370;p42"/>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1" name="Google Shape;371;p42"/>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2" name="Google Shape;372;p42"/>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3" name="Google Shape;373;p42"/>
          <p:cNvSpPr/>
          <p:nvPr>
            <p:ph idx="31" type="pic"/>
          </p:nvPr>
        </p:nvSpPr>
        <p:spPr>
          <a:xfrm>
            <a:off x="6080709" y="3805056"/>
            <a:ext cx="530400" cy="530400"/>
          </a:xfrm>
          <a:prstGeom prst="rect">
            <a:avLst/>
          </a:prstGeom>
          <a:noFill/>
          <a:ln>
            <a:noFill/>
          </a:ln>
        </p:spPr>
      </p:sp>
      <p:sp>
        <p:nvSpPr>
          <p:cNvPr id="374" name="Google Shape;374;p42"/>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5" name="Google Shape;375;p42"/>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6" name="Google Shape;376;p42"/>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7" name="Google Shape;377;p42"/>
          <p:cNvSpPr/>
          <p:nvPr>
            <p:ph idx="35" type="pic"/>
          </p:nvPr>
        </p:nvSpPr>
        <p:spPr>
          <a:xfrm>
            <a:off x="3154659" y="3805056"/>
            <a:ext cx="530400" cy="530400"/>
          </a:xfrm>
          <a:prstGeom prst="rect">
            <a:avLst/>
          </a:prstGeom>
          <a:noFill/>
          <a:ln>
            <a:noFill/>
          </a:ln>
        </p:spPr>
      </p:sp>
      <p:sp>
        <p:nvSpPr>
          <p:cNvPr id="378" name="Google Shape;378;p42"/>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79" name="Google Shape;379;p4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42"/>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81" name="Shape 381"/>
        <p:cNvGrpSpPr/>
        <p:nvPr/>
      </p:nvGrpSpPr>
      <p:grpSpPr>
        <a:xfrm>
          <a:off x="0" y="0"/>
          <a:ext cx="0" cy="0"/>
          <a:chOff x="0" y="0"/>
          <a:chExt cx="0" cy="0"/>
        </a:xfrm>
      </p:grpSpPr>
      <p:sp>
        <p:nvSpPr>
          <p:cNvPr id="382" name="Google Shape;382;p43"/>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83" name="Google Shape;383;p43"/>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84" name="Google Shape;384;p43"/>
          <p:cNvSpPr/>
          <p:nvPr>
            <p:ph idx="2" type="pic"/>
          </p:nvPr>
        </p:nvSpPr>
        <p:spPr>
          <a:xfrm flipH="1">
            <a:off x="953803" y="1066100"/>
            <a:ext cx="2664300" cy="3002700"/>
          </a:xfrm>
          <a:prstGeom prst="rect">
            <a:avLst/>
          </a:prstGeom>
          <a:noFill/>
          <a:ln>
            <a:noFill/>
          </a:ln>
        </p:spPr>
      </p:sp>
      <p:sp>
        <p:nvSpPr>
          <p:cNvPr id="385" name="Google Shape;385;p43"/>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86" name="Google Shape;386;p4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43"/>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88" name="Google Shape;388;p43"/>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89" name="Google Shape;389;p43"/>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90" name="Google Shape;390;p43"/>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91" name="Shape 391"/>
        <p:cNvGrpSpPr/>
        <p:nvPr/>
      </p:nvGrpSpPr>
      <p:grpSpPr>
        <a:xfrm>
          <a:off x="0" y="0"/>
          <a:ext cx="0" cy="0"/>
          <a:chOff x="0" y="0"/>
          <a:chExt cx="0" cy="0"/>
        </a:xfrm>
      </p:grpSpPr>
      <p:grpSp>
        <p:nvGrpSpPr>
          <p:cNvPr id="392" name="Google Shape;392;p44"/>
          <p:cNvGrpSpPr/>
          <p:nvPr/>
        </p:nvGrpSpPr>
        <p:grpSpPr>
          <a:xfrm>
            <a:off x="49" y="514398"/>
            <a:ext cx="9144297" cy="4115162"/>
            <a:chOff x="-18500" y="514395"/>
            <a:chExt cx="9219900" cy="4115162"/>
          </a:xfrm>
        </p:grpSpPr>
        <p:cxnSp>
          <p:nvCxnSpPr>
            <p:cNvPr id="393" name="Google Shape;393;p44"/>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4" name="Google Shape;394;p44"/>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5" name="Google Shape;395;p44"/>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6" name="Google Shape;396;p44"/>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7" name="Google Shape;397;p44"/>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8" name="Google Shape;398;p44"/>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9" name="Google Shape;399;p44"/>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0" name="Google Shape;400;p44"/>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1" name="Google Shape;401;p44"/>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402" name="Google Shape;402;p4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03" name="Google Shape;403;p4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4" name="Google Shape;404;p44"/>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405" name="Shape 405"/>
        <p:cNvGrpSpPr/>
        <p:nvPr/>
      </p:nvGrpSpPr>
      <p:grpSpPr>
        <a:xfrm>
          <a:off x="0" y="0"/>
          <a:ext cx="0" cy="0"/>
          <a:chOff x="0" y="0"/>
          <a:chExt cx="0" cy="0"/>
        </a:xfrm>
      </p:grpSpPr>
      <p:sp>
        <p:nvSpPr>
          <p:cNvPr id="406" name="Google Shape;406;p45"/>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7" name="Google Shape;407;p45"/>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408" name="Google Shape;408;p45"/>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9" name="Shape 409"/>
        <p:cNvGrpSpPr/>
        <p:nvPr/>
      </p:nvGrpSpPr>
      <p:grpSpPr>
        <a:xfrm>
          <a:off x="0" y="0"/>
          <a:ext cx="0" cy="0"/>
          <a:chOff x="0" y="0"/>
          <a:chExt cx="0" cy="0"/>
        </a:xfrm>
      </p:grpSpPr>
      <p:sp>
        <p:nvSpPr>
          <p:cNvPr id="410" name="Google Shape;410;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11" name="Google Shape;411;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12" name="Shape 412"/>
        <p:cNvGrpSpPr/>
        <p:nvPr/>
      </p:nvGrpSpPr>
      <p:grpSpPr>
        <a:xfrm>
          <a:off x="0" y="0"/>
          <a:ext cx="0" cy="0"/>
          <a:chOff x="0" y="0"/>
          <a:chExt cx="0" cy="0"/>
        </a:xfrm>
      </p:grpSpPr>
      <p:sp>
        <p:nvSpPr>
          <p:cNvPr id="413" name="Google Shape;413;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14" name="Shape 414"/>
        <p:cNvGrpSpPr/>
        <p:nvPr/>
      </p:nvGrpSpPr>
      <p:grpSpPr>
        <a:xfrm>
          <a:off x="0" y="0"/>
          <a:ext cx="0" cy="0"/>
          <a:chOff x="0" y="0"/>
          <a:chExt cx="0" cy="0"/>
        </a:xfrm>
      </p:grpSpPr>
      <p:sp>
        <p:nvSpPr>
          <p:cNvPr id="415" name="Google Shape;415;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6" name="Google Shape;416;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17" name="Shape 417"/>
        <p:cNvGrpSpPr/>
        <p:nvPr/>
      </p:nvGrpSpPr>
      <p:grpSpPr>
        <a:xfrm>
          <a:off x="0" y="0"/>
          <a:ext cx="0" cy="0"/>
          <a:chOff x="0" y="0"/>
          <a:chExt cx="0" cy="0"/>
        </a:xfrm>
      </p:grpSpPr>
      <p:sp>
        <p:nvSpPr>
          <p:cNvPr id="418" name="Google Shape;418;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9" name="Google Shape;419;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0" name="Google Shape;420;p49"/>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21" name="Shape 421"/>
        <p:cNvGrpSpPr/>
        <p:nvPr/>
      </p:nvGrpSpPr>
      <p:grpSpPr>
        <a:xfrm>
          <a:off x="0" y="0"/>
          <a:ext cx="0" cy="0"/>
          <a:chOff x="0" y="0"/>
          <a:chExt cx="0" cy="0"/>
        </a:xfrm>
      </p:grpSpPr>
      <p:sp>
        <p:nvSpPr>
          <p:cNvPr id="422" name="Google Shape;422;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23" name="Shape 423"/>
        <p:cNvGrpSpPr/>
        <p:nvPr/>
      </p:nvGrpSpPr>
      <p:grpSpPr>
        <a:xfrm>
          <a:off x="0" y="0"/>
          <a:ext cx="0" cy="0"/>
          <a:chOff x="0" y="0"/>
          <a:chExt cx="0" cy="0"/>
        </a:xfrm>
      </p:grpSpPr>
      <p:sp>
        <p:nvSpPr>
          <p:cNvPr id="424" name="Google Shape;424;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5" name="Google Shape;425;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26" name="Shape 426"/>
        <p:cNvGrpSpPr/>
        <p:nvPr/>
      </p:nvGrpSpPr>
      <p:grpSpPr>
        <a:xfrm>
          <a:off x="0" y="0"/>
          <a:ext cx="0" cy="0"/>
          <a:chOff x="0" y="0"/>
          <a:chExt cx="0" cy="0"/>
        </a:xfrm>
      </p:grpSpPr>
      <p:sp>
        <p:nvSpPr>
          <p:cNvPr id="427" name="Google Shape;427;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28" name="Shape 428"/>
        <p:cNvGrpSpPr/>
        <p:nvPr/>
      </p:nvGrpSpPr>
      <p:grpSpPr>
        <a:xfrm>
          <a:off x="0" y="0"/>
          <a:ext cx="0" cy="0"/>
          <a:chOff x="0" y="0"/>
          <a:chExt cx="0" cy="0"/>
        </a:xfrm>
      </p:grpSpPr>
      <p:sp>
        <p:nvSpPr>
          <p:cNvPr id="429" name="Google Shape;429;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0" name="Google Shape;430;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31" name="Google Shape;431;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32" name="Shape 432"/>
        <p:cNvGrpSpPr/>
        <p:nvPr/>
      </p:nvGrpSpPr>
      <p:grpSpPr>
        <a:xfrm>
          <a:off x="0" y="0"/>
          <a:ext cx="0" cy="0"/>
          <a:chOff x="0" y="0"/>
          <a:chExt cx="0" cy="0"/>
        </a:xfrm>
      </p:grpSpPr>
      <p:sp>
        <p:nvSpPr>
          <p:cNvPr id="433" name="Google Shape;433;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34" name="Shape 434"/>
        <p:cNvGrpSpPr/>
        <p:nvPr/>
      </p:nvGrpSpPr>
      <p:grpSpPr>
        <a:xfrm>
          <a:off x="0" y="0"/>
          <a:ext cx="0" cy="0"/>
          <a:chOff x="0" y="0"/>
          <a:chExt cx="0" cy="0"/>
        </a:xfrm>
      </p:grpSpPr>
      <p:sp>
        <p:nvSpPr>
          <p:cNvPr id="435" name="Google Shape;435;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6" name="Google Shape;436;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7" name="Shape 437"/>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8" name="Shape 438"/>
        <p:cNvGrpSpPr/>
        <p:nvPr/>
      </p:nvGrpSpPr>
      <p:grpSpPr>
        <a:xfrm>
          <a:off x="0" y="0"/>
          <a:ext cx="0" cy="0"/>
          <a:chOff x="0" y="0"/>
          <a:chExt cx="0" cy="0"/>
        </a:xfrm>
      </p:grpSpPr>
      <p:sp>
        <p:nvSpPr>
          <p:cNvPr id="439" name="Google Shape;439;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4" name="Google Shape;444;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5" name="Google Shape;445;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46" name="Shape 446"/>
        <p:cNvGrpSpPr/>
        <p:nvPr/>
      </p:nvGrpSpPr>
      <p:grpSpPr>
        <a:xfrm>
          <a:off x="0" y="0"/>
          <a:ext cx="0" cy="0"/>
          <a:chOff x="0" y="0"/>
          <a:chExt cx="0" cy="0"/>
        </a:xfrm>
      </p:grpSpPr>
      <p:sp>
        <p:nvSpPr>
          <p:cNvPr id="447" name="Google Shape;44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9" name="Google Shape;449;p5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50" name="Shape 450"/>
        <p:cNvGrpSpPr/>
        <p:nvPr/>
      </p:nvGrpSpPr>
      <p:grpSpPr>
        <a:xfrm>
          <a:off x="0" y="0"/>
          <a:ext cx="0" cy="0"/>
          <a:chOff x="0" y="0"/>
          <a:chExt cx="0" cy="0"/>
        </a:xfrm>
      </p:grpSpPr>
      <p:sp>
        <p:nvSpPr>
          <p:cNvPr id="451" name="Google Shape;451;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2" name="Google Shape;452;p5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3" name="Google Shape;453;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5" name="Google Shape;455;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56" name="Shape 456"/>
        <p:cNvGrpSpPr/>
        <p:nvPr/>
      </p:nvGrpSpPr>
      <p:grpSpPr>
        <a:xfrm>
          <a:off x="0" y="0"/>
          <a:ext cx="0" cy="0"/>
          <a:chOff x="0" y="0"/>
          <a:chExt cx="0" cy="0"/>
        </a:xfrm>
      </p:grpSpPr>
      <p:sp>
        <p:nvSpPr>
          <p:cNvPr id="457" name="Google Shape;457;p6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8" name="Google Shape;458;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60" name="Google Shape;460;p6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1" name="Google Shape;461;p6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2" name="Google Shape;462;p6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3" name="Google Shape;463;p6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64" name="Shape 464"/>
        <p:cNvGrpSpPr/>
        <p:nvPr/>
      </p:nvGrpSpPr>
      <p:grpSpPr>
        <a:xfrm>
          <a:off x="0" y="0"/>
          <a:ext cx="0" cy="0"/>
          <a:chOff x="0" y="0"/>
          <a:chExt cx="0" cy="0"/>
        </a:xfrm>
      </p:grpSpPr>
      <p:sp>
        <p:nvSpPr>
          <p:cNvPr id="465" name="Google Shape;465;p6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66" name="Google Shape;466;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8" name="Google Shape;468;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9" name="Google Shape;469;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70" name="Google Shape;470;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1" name="Google Shape;471;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2" name="Google Shape;472;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3" name="Google Shape;473;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74" name="Shape 474"/>
        <p:cNvGrpSpPr/>
        <p:nvPr/>
      </p:nvGrpSpPr>
      <p:grpSpPr>
        <a:xfrm>
          <a:off x="0" y="0"/>
          <a:ext cx="0" cy="0"/>
          <a:chOff x="0" y="0"/>
          <a:chExt cx="0" cy="0"/>
        </a:xfrm>
      </p:grpSpPr>
      <p:sp>
        <p:nvSpPr>
          <p:cNvPr id="475" name="Google Shape;475;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77" name="Shape 477"/>
        <p:cNvGrpSpPr/>
        <p:nvPr/>
      </p:nvGrpSpPr>
      <p:grpSpPr>
        <a:xfrm>
          <a:off x="0" y="0"/>
          <a:ext cx="0" cy="0"/>
          <a:chOff x="0" y="0"/>
          <a:chExt cx="0" cy="0"/>
        </a:xfrm>
      </p:grpSpPr>
      <p:sp>
        <p:nvSpPr>
          <p:cNvPr id="478" name="Google Shape;478;p6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9" name="Google Shape;479;p63"/>
          <p:cNvSpPr/>
          <p:nvPr>
            <p:ph idx="2" type="pic"/>
          </p:nvPr>
        </p:nvSpPr>
        <p:spPr>
          <a:xfrm>
            <a:off x="4804825" y="1133300"/>
            <a:ext cx="4027500" cy="2392800"/>
          </a:xfrm>
          <a:prstGeom prst="rect">
            <a:avLst/>
          </a:prstGeom>
          <a:noFill/>
          <a:ln>
            <a:noFill/>
          </a:ln>
        </p:spPr>
      </p:sp>
      <p:sp>
        <p:nvSpPr>
          <p:cNvPr id="480" name="Google Shape;480;p63"/>
          <p:cNvSpPr/>
          <p:nvPr>
            <p:ph idx="3" type="pic"/>
          </p:nvPr>
        </p:nvSpPr>
        <p:spPr>
          <a:xfrm>
            <a:off x="311725" y="1133300"/>
            <a:ext cx="4027500" cy="2392800"/>
          </a:xfrm>
          <a:prstGeom prst="rect">
            <a:avLst/>
          </a:prstGeom>
          <a:noFill/>
          <a:ln>
            <a:noFill/>
          </a:ln>
        </p:spPr>
      </p:sp>
      <p:sp>
        <p:nvSpPr>
          <p:cNvPr id="481" name="Google Shape;481;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2" name="Google Shape;482;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3" name="Google Shape;483;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4" name="Google Shape;484;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85" name="Shape 485"/>
        <p:cNvGrpSpPr/>
        <p:nvPr/>
      </p:nvGrpSpPr>
      <p:grpSpPr>
        <a:xfrm>
          <a:off x="0" y="0"/>
          <a:ext cx="0" cy="0"/>
          <a:chOff x="0" y="0"/>
          <a:chExt cx="0" cy="0"/>
        </a:xfrm>
      </p:grpSpPr>
      <p:sp>
        <p:nvSpPr>
          <p:cNvPr id="486" name="Google Shape;486;p6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87" name="Google Shape;487;p64"/>
          <p:cNvSpPr/>
          <p:nvPr>
            <p:ph idx="2" type="pic"/>
          </p:nvPr>
        </p:nvSpPr>
        <p:spPr>
          <a:xfrm>
            <a:off x="6205225" y="1128325"/>
            <a:ext cx="2627100" cy="2273100"/>
          </a:xfrm>
          <a:prstGeom prst="rect">
            <a:avLst/>
          </a:prstGeom>
          <a:noFill/>
          <a:ln>
            <a:noFill/>
          </a:ln>
        </p:spPr>
      </p:sp>
      <p:sp>
        <p:nvSpPr>
          <p:cNvPr id="488" name="Google Shape;488;p64"/>
          <p:cNvSpPr/>
          <p:nvPr>
            <p:ph idx="3" type="pic"/>
          </p:nvPr>
        </p:nvSpPr>
        <p:spPr>
          <a:xfrm>
            <a:off x="311725" y="1128325"/>
            <a:ext cx="2627100" cy="2273100"/>
          </a:xfrm>
          <a:prstGeom prst="rect">
            <a:avLst/>
          </a:prstGeom>
          <a:noFill/>
          <a:ln>
            <a:noFill/>
          </a:ln>
        </p:spPr>
      </p:sp>
      <p:sp>
        <p:nvSpPr>
          <p:cNvPr id="489" name="Google Shape;489;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0" name="Google Shape;490;p64"/>
          <p:cNvSpPr/>
          <p:nvPr>
            <p:ph idx="5" type="pic"/>
          </p:nvPr>
        </p:nvSpPr>
        <p:spPr>
          <a:xfrm>
            <a:off x="3255250" y="1128325"/>
            <a:ext cx="2627100" cy="2273100"/>
          </a:xfrm>
          <a:prstGeom prst="rect">
            <a:avLst/>
          </a:prstGeom>
          <a:noFill/>
          <a:ln>
            <a:noFill/>
          </a:ln>
        </p:spPr>
      </p:sp>
      <p:sp>
        <p:nvSpPr>
          <p:cNvPr id="491" name="Google Shape;491;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2" name="Google Shape;492;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3" name="Google Shape;493;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4" name="Google Shape;494;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5" name="Google Shape;495;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96" name="Shape 496"/>
        <p:cNvGrpSpPr/>
        <p:nvPr/>
      </p:nvGrpSpPr>
      <p:grpSpPr>
        <a:xfrm>
          <a:off x="0" y="0"/>
          <a:ext cx="0" cy="0"/>
          <a:chOff x="0" y="0"/>
          <a:chExt cx="0" cy="0"/>
        </a:xfrm>
      </p:grpSpPr>
      <p:sp>
        <p:nvSpPr>
          <p:cNvPr id="497" name="Google Shape;497;p6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98" name="Shape 498"/>
        <p:cNvGrpSpPr/>
        <p:nvPr/>
      </p:nvGrpSpPr>
      <p:grpSpPr>
        <a:xfrm>
          <a:off x="0" y="0"/>
          <a:ext cx="0" cy="0"/>
          <a:chOff x="0" y="0"/>
          <a:chExt cx="0" cy="0"/>
        </a:xfrm>
      </p:grpSpPr>
      <p:sp>
        <p:nvSpPr>
          <p:cNvPr id="499" name="Google Shape;499;p66"/>
          <p:cNvSpPr/>
          <p:nvPr>
            <p:ph idx="2" type="pic"/>
          </p:nvPr>
        </p:nvSpPr>
        <p:spPr>
          <a:xfrm>
            <a:off x="3389600" y="118913"/>
            <a:ext cx="1643700" cy="1535100"/>
          </a:xfrm>
          <a:prstGeom prst="rect">
            <a:avLst/>
          </a:prstGeom>
          <a:noFill/>
          <a:ln>
            <a:noFill/>
          </a:ln>
        </p:spPr>
      </p:sp>
      <p:sp>
        <p:nvSpPr>
          <p:cNvPr id="500" name="Google Shape;500;p66"/>
          <p:cNvSpPr/>
          <p:nvPr>
            <p:ph idx="3" type="pic"/>
          </p:nvPr>
        </p:nvSpPr>
        <p:spPr>
          <a:xfrm>
            <a:off x="5195935" y="118913"/>
            <a:ext cx="1643700" cy="1535100"/>
          </a:xfrm>
          <a:prstGeom prst="rect">
            <a:avLst/>
          </a:prstGeom>
          <a:noFill/>
          <a:ln>
            <a:noFill/>
          </a:ln>
        </p:spPr>
      </p:sp>
      <p:sp>
        <p:nvSpPr>
          <p:cNvPr id="501" name="Google Shape;501;p66"/>
          <p:cNvSpPr/>
          <p:nvPr>
            <p:ph idx="4" type="pic"/>
          </p:nvPr>
        </p:nvSpPr>
        <p:spPr>
          <a:xfrm>
            <a:off x="7002270" y="118913"/>
            <a:ext cx="1643700" cy="1535100"/>
          </a:xfrm>
          <a:prstGeom prst="rect">
            <a:avLst/>
          </a:prstGeom>
          <a:noFill/>
          <a:ln>
            <a:noFill/>
          </a:ln>
        </p:spPr>
      </p:sp>
      <p:sp>
        <p:nvSpPr>
          <p:cNvPr id="502" name="Google Shape;502;p66"/>
          <p:cNvSpPr/>
          <p:nvPr>
            <p:ph idx="5" type="pic"/>
          </p:nvPr>
        </p:nvSpPr>
        <p:spPr>
          <a:xfrm>
            <a:off x="3389588" y="1804212"/>
            <a:ext cx="1643700" cy="1535100"/>
          </a:xfrm>
          <a:prstGeom prst="rect">
            <a:avLst/>
          </a:prstGeom>
          <a:noFill/>
          <a:ln>
            <a:noFill/>
          </a:ln>
        </p:spPr>
      </p:sp>
      <p:sp>
        <p:nvSpPr>
          <p:cNvPr id="503" name="Google Shape;503;p66"/>
          <p:cNvSpPr/>
          <p:nvPr>
            <p:ph idx="6" type="pic"/>
          </p:nvPr>
        </p:nvSpPr>
        <p:spPr>
          <a:xfrm>
            <a:off x="5195922" y="1804212"/>
            <a:ext cx="1643700" cy="1535100"/>
          </a:xfrm>
          <a:prstGeom prst="rect">
            <a:avLst/>
          </a:prstGeom>
          <a:noFill/>
          <a:ln>
            <a:noFill/>
          </a:ln>
        </p:spPr>
      </p:sp>
      <p:sp>
        <p:nvSpPr>
          <p:cNvPr id="504" name="Google Shape;504;p66"/>
          <p:cNvSpPr/>
          <p:nvPr>
            <p:ph idx="7" type="pic"/>
          </p:nvPr>
        </p:nvSpPr>
        <p:spPr>
          <a:xfrm>
            <a:off x="7002257" y="1804212"/>
            <a:ext cx="1643700" cy="1535100"/>
          </a:xfrm>
          <a:prstGeom prst="rect">
            <a:avLst/>
          </a:prstGeom>
          <a:noFill/>
          <a:ln>
            <a:noFill/>
          </a:ln>
        </p:spPr>
      </p:sp>
      <p:sp>
        <p:nvSpPr>
          <p:cNvPr id="505" name="Google Shape;505;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6" name="Google Shape;506;p66"/>
          <p:cNvSpPr/>
          <p:nvPr>
            <p:ph idx="8" type="pic"/>
          </p:nvPr>
        </p:nvSpPr>
        <p:spPr>
          <a:xfrm>
            <a:off x="3389588" y="3489487"/>
            <a:ext cx="1643700" cy="1535100"/>
          </a:xfrm>
          <a:prstGeom prst="rect">
            <a:avLst/>
          </a:prstGeom>
          <a:noFill/>
          <a:ln>
            <a:noFill/>
          </a:ln>
        </p:spPr>
      </p:sp>
      <p:sp>
        <p:nvSpPr>
          <p:cNvPr id="507" name="Google Shape;507;p66"/>
          <p:cNvSpPr/>
          <p:nvPr>
            <p:ph idx="9" type="pic"/>
          </p:nvPr>
        </p:nvSpPr>
        <p:spPr>
          <a:xfrm>
            <a:off x="5195922" y="3489487"/>
            <a:ext cx="1643700" cy="1535100"/>
          </a:xfrm>
          <a:prstGeom prst="rect">
            <a:avLst/>
          </a:prstGeom>
          <a:noFill/>
          <a:ln>
            <a:noFill/>
          </a:ln>
        </p:spPr>
      </p:sp>
      <p:sp>
        <p:nvSpPr>
          <p:cNvPr id="508" name="Google Shape;508;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52" name="Google Shape;52;p13"/>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xml"/><Relationship Id="rId3" Type="http://schemas.openxmlformats.org/officeDocument/2006/relationships/hyperlink" Target="https://www.hvpe.com/contact/" TargetMode="External"/><Relationship Id="rId4" Type="http://schemas.openxmlformats.org/officeDocument/2006/relationships/hyperlink" Target="mailto:Agraham@harbourvest.com" TargetMode="External"/><Relationship Id="rId5" Type="http://schemas.openxmlformats.org/officeDocument/2006/relationships/hyperlink" Target="mailto:Suaidaf@gmail.com" TargetMode="External"/><Relationship Id="rId6"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xml"/><Relationship Id="rId3" Type="http://schemas.openxmlformats.org/officeDocument/2006/relationships/hyperlink" Target="http://www.harbourvest.com" TargetMode="External"/><Relationship Id="rId4" Type="http://schemas.openxmlformats.org/officeDocument/2006/relationships/hyperlink" Target="http://www.harbourvest.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A close-up of a modern glass structure. " id="513" name="Google Shape;513;p67"/>
          <p:cNvPicPr preferRelativeResize="0"/>
          <p:nvPr/>
        </p:nvPicPr>
        <p:blipFill rotWithShape="1">
          <a:blip r:embed="rId3">
            <a:alphaModFix/>
          </a:blip>
          <a:srcRect b="80" l="21737" r="19116" t="0"/>
          <a:stretch/>
        </p:blipFill>
        <p:spPr>
          <a:xfrm>
            <a:off x="4587725" y="-8750"/>
            <a:ext cx="4572001" cy="5148074"/>
          </a:xfrm>
          <a:prstGeom prst="rect">
            <a:avLst/>
          </a:prstGeom>
          <a:noFill/>
          <a:ln>
            <a:noFill/>
          </a:ln>
        </p:spPr>
      </p:pic>
      <p:sp>
        <p:nvSpPr>
          <p:cNvPr id="514" name="Google Shape;514;p67"/>
          <p:cNvSpPr txBox="1"/>
          <p:nvPr>
            <p:ph type="title"/>
          </p:nvPr>
        </p:nvSpPr>
        <p:spPr>
          <a:xfrm>
            <a:off x="361975" y="946385"/>
            <a:ext cx="3860100" cy="1436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HarbourVest</a:t>
            </a:r>
            <a:endParaRPr i="1"/>
          </a:p>
          <a:p>
            <a:pPr indent="0" lvl="0" marL="0" rtl="0" algn="ctr">
              <a:spcBef>
                <a:spcPts val="0"/>
              </a:spcBef>
              <a:spcAft>
                <a:spcPts val="0"/>
              </a:spcAft>
              <a:buNone/>
            </a:pPr>
            <a:r>
              <a:rPr lang="en"/>
              <a:t>Presentation</a:t>
            </a:r>
            <a:endParaRPr/>
          </a:p>
        </p:txBody>
      </p:sp>
      <p:sp>
        <p:nvSpPr>
          <p:cNvPr id="515" name="Google Shape;515;p67"/>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December 2025</a:t>
            </a:r>
            <a:endParaRPr/>
          </a:p>
          <a:p>
            <a:pPr indent="0" lvl="0" marL="0" rtl="0" algn="ctr">
              <a:spcBef>
                <a:spcPts val="0"/>
              </a:spcBef>
              <a:spcAft>
                <a:spcPts val="0"/>
              </a:spcAft>
              <a:buNone/>
            </a:pPr>
            <a:r>
              <a:rPr lang="en"/>
              <a:t>Final Presentation</a:t>
            </a:r>
            <a:endParaRPr/>
          </a:p>
        </p:txBody>
      </p:sp>
      <p:sp>
        <p:nvSpPr>
          <p:cNvPr id="516" name="Google Shape;516;p67"/>
          <p:cNvSpPr txBox="1"/>
          <p:nvPr>
            <p:ph idx="3" type="body"/>
          </p:nvPr>
        </p:nvSpPr>
        <p:spPr>
          <a:xfrm>
            <a:off x="547575" y="3870874"/>
            <a:ext cx="3492600" cy="794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By: Catalina, Sreya, Vineet, Leo, and Eric </a:t>
            </a:r>
            <a:endParaRPr/>
          </a:p>
        </p:txBody>
      </p:sp>
      <p:pic>
        <p:nvPicPr>
          <p:cNvPr descr="File:HarbourVest Partners logo.svg - Wikimedia Commons" id="517" name="Google Shape;517;p67"/>
          <p:cNvPicPr preferRelativeResize="0"/>
          <p:nvPr/>
        </p:nvPicPr>
        <p:blipFill>
          <a:blip r:embed="rId4">
            <a:alphaModFix/>
          </a:blip>
          <a:stretch>
            <a:fillRect/>
          </a:stretch>
        </p:blipFill>
        <p:spPr>
          <a:xfrm>
            <a:off x="4587725" y="1734205"/>
            <a:ext cx="4572001" cy="91974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8"/>
          <p:cNvSpPr txBox="1"/>
          <p:nvPr>
            <p:ph type="title"/>
          </p:nvPr>
        </p:nvSpPr>
        <p:spPr>
          <a:xfrm>
            <a:off x="361975" y="306767"/>
            <a:ext cx="57186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Company Access</a:t>
            </a:r>
            <a:endParaRPr/>
          </a:p>
        </p:txBody>
      </p:sp>
      <p:sp>
        <p:nvSpPr>
          <p:cNvPr id="523" name="Google Shape;523;p68"/>
          <p:cNvSpPr/>
          <p:nvPr/>
        </p:nvSpPr>
        <p:spPr>
          <a:xfrm>
            <a:off x="533425" y="1033150"/>
            <a:ext cx="3017400" cy="1108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Company</a:t>
            </a:r>
            <a:r>
              <a:rPr lang="en">
                <a:latin typeface="Times New Roman"/>
                <a:ea typeface="Times New Roman"/>
                <a:cs typeface="Times New Roman"/>
                <a:sym typeface="Times New Roman"/>
              </a:rPr>
              <a:t>: HarbourVest 		</a:t>
            </a:r>
            <a:endParaRPr>
              <a:latin typeface="Times New Roman"/>
              <a:ea typeface="Times New Roman"/>
              <a:cs typeface="Times New Roman"/>
              <a:sym typeface="Times New Roman"/>
            </a:endParaRPr>
          </a:p>
          <a:p>
            <a:pPr indent="0" lvl="0" marL="0" rtl="0" algn="ctr">
              <a:spcBef>
                <a:spcPts val="0"/>
              </a:spcBef>
              <a:spcAft>
                <a:spcPts val="0"/>
              </a:spcAft>
              <a:buNone/>
            </a:pP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l">
              <a:spcBef>
                <a:spcPts val="0"/>
              </a:spcBef>
              <a:spcAft>
                <a:spcPts val="0"/>
              </a:spcAft>
              <a:buNone/>
            </a:pPr>
            <a:r>
              <a:rPr b="1" lang="en">
                <a:latin typeface="Times New Roman"/>
                <a:ea typeface="Times New Roman"/>
                <a:cs typeface="Times New Roman"/>
                <a:sym typeface="Times New Roman"/>
              </a:rPr>
              <a:t>Location</a:t>
            </a:r>
            <a:r>
              <a:rPr lang="en">
                <a:latin typeface="Times New Roman"/>
                <a:ea typeface="Times New Roman"/>
                <a:cs typeface="Times New Roman"/>
                <a:sym typeface="Times New Roman"/>
              </a:rPr>
              <a:t>: Boston, Massachusetts</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rPr b="1" lang="en">
                <a:solidFill>
                  <a:srgbClr val="1F1F1F"/>
                </a:solidFill>
                <a:latin typeface="Times New Roman"/>
                <a:ea typeface="Times New Roman"/>
                <a:cs typeface="Times New Roman"/>
                <a:sym typeface="Times New Roman"/>
              </a:rPr>
              <a:t>Contact info</a:t>
            </a:r>
            <a:r>
              <a:rPr lang="en">
                <a:solidFill>
                  <a:srgbClr val="1F1F1F"/>
                </a:solidFill>
                <a:latin typeface="Times New Roman"/>
                <a:ea typeface="Times New Roman"/>
                <a:cs typeface="Times New Roman"/>
                <a:sym typeface="Times New Roman"/>
              </a:rPr>
              <a:t>: </a:t>
            </a:r>
            <a:r>
              <a:rPr lang="en" sz="1200">
                <a:solidFill>
                  <a:srgbClr val="1F1F1F"/>
                </a:solidFill>
                <a:uFill>
                  <a:noFill/>
                </a:uFill>
                <a:latin typeface="Roboto"/>
                <a:ea typeface="Roboto"/>
                <a:cs typeface="Roboto"/>
                <a:sym typeface="Roboto"/>
                <a:hlinkClick r:id="rId3">
                  <a:extLst>
                    <a:ext uri="{A12FA001-AC4F-418D-AE19-62706E023703}">
                      <ahyp:hlinkClr val="tx"/>
                    </a:ext>
                  </a:extLst>
                </a:hlinkClick>
              </a:rPr>
              <a:t>hvpe@harbourvest.com</a:t>
            </a:r>
            <a:endParaRPr>
              <a:solidFill>
                <a:srgbClr val="1F1F1F"/>
              </a:solidFill>
              <a:latin typeface="Times New Roman"/>
              <a:ea typeface="Times New Roman"/>
              <a:cs typeface="Times New Roman"/>
              <a:sym typeface="Times New Roman"/>
            </a:endParaRPr>
          </a:p>
        </p:txBody>
      </p:sp>
      <p:sp>
        <p:nvSpPr>
          <p:cNvPr id="524" name="Google Shape;524;p68"/>
          <p:cNvSpPr/>
          <p:nvPr/>
        </p:nvSpPr>
        <p:spPr>
          <a:xfrm>
            <a:off x="1988825" y="3032750"/>
            <a:ext cx="4137600" cy="156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Senior Vice President: Analia Graham </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	Contact info: </a:t>
            </a:r>
            <a:r>
              <a:rPr lang="en" sz="12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Agraham@harbourvest.com</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Junior Level Position: Suiada </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	Contact Info:</a:t>
            </a:r>
            <a:r>
              <a:rPr lang="en" sz="120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Suaidaf@gmail.com</a:t>
            </a:r>
            <a:r>
              <a:rPr lang="en" sz="1200">
                <a:latin typeface="Times New Roman"/>
                <a:ea typeface="Times New Roman"/>
                <a:cs typeface="Times New Roman"/>
                <a:sym typeface="Times New Roman"/>
              </a:rPr>
              <a:t>.</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pic>
        <p:nvPicPr>
          <p:cNvPr id="525" name="Google Shape;525;p68"/>
          <p:cNvPicPr preferRelativeResize="0"/>
          <p:nvPr/>
        </p:nvPicPr>
        <p:blipFill>
          <a:blip r:embed="rId6">
            <a:alphaModFix/>
          </a:blip>
          <a:stretch>
            <a:fillRect/>
          </a:stretch>
        </p:blipFill>
        <p:spPr>
          <a:xfrm>
            <a:off x="5316963" y="888379"/>
            <a:ext cx="2971663" cy="19225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9"/>
          <p:cNvSpPr txBox="1"/>
          <p:nvPr>
            <p:ph type="title"/>
          </p:nvPr>
        </p:nvSpPr>
        <p:spPr>
          <a:xfrm>
            <a:off x="361975" y="337271"/>
            <a:ext cx="8111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Background Info &amp; Secondary Data</a:t>
            </a:r>
            <a:endParaRPr sz="3000"/>
          </a:p>
        </p:txBody>
      </p:sp>
      <p:sp>
        <p:nvSpPr>
          <p:cNvPr id="531" name="Google Shape;531;p69"/>
          <p:cNvSpPr/>
          <p:nvPr/>
        </p:nvSpPr>
        <p:spPr>
          <a:xfrm>
            <a:off x="328800" y="902650"/>
            <a:ext cx="4002000" cy="399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HarbourVest Partners is a global private market investment firm that is known for providing institutional and private clients across the globe with private equity, fund of funds, secondary fund interests, direct co-investments, real assets, and private credit. HarbourVest is known for its global reach, diversified private market, investment strategies, and long-term experience. Through its “interwoven platform,” it enables investors to access private market opportunities.</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a:p>
            <a:pPr indent="0" lvl="0" marL="0" rtl="0" algn="l">
              <a:spcBef>
                <a:spcPts val="0"/>
              </a:spcBef>
              <a:spcAft>
                <a:spcPts val="0"/>
              </a:spcAft>
              <a:buNone/>
            </a:pPr>
            <a:r>
              <a:rPr b="1" lang="en">
                <a:latin typeface="Times New Roman"/>
                <a:ea typeface="Times New Roman"/>
                <a:cs typeface="Times New Roman"/>
                <a:sym typeface="Times New Roman"/>
              </a:rPr>
              <a:t>Main competitors:</a:t>
            </a:r>
            <a:r>
              <a:rPr lang="en" sz="1200">
                <a:latin typeface="Times New Roman"/>
                <a:ea typeface="Times New Roman"/>
                <a:cs typeface="Times New Roman"/>
                <a:sym typeface="Times New Roman"/>
              </a:rPr>
              <a:t> Hamilton Lane &amp; </a:t>
            </a:r>
            <a:r>
              <a:rPr lang="en" sz="1200">
                <a:latin typeface="Times New Roman"/>
                <a:ea typeface="Times New Roman"/>
                <a:cs typeface="Times New Roman"/>
                <a:sym typeface="Times New Roman"/>
              </a:rPr>
              <a:t>Pantheon top global private equity fund-of-funds players in the same domain.</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a:p>
            <a:pPr indent="0" lvl="0" marL="0" rtl="0" algn="l">
              <a:spcBef>
                <a:spcPts val="0"/>
              </a:spcBef>
              <a:spcAft>
                <a:spcPts val="0"/>
              </a:spcAft>
              <a:buNone/>
            </a:pPr>
            <a:r>
              <a:rPr b="1" lang="en">
                <a:latin typeface="Times New Roman"/>
                <a:ea typeface="Times New Roman"/>
                <a:cs typeface="Times New Roman"/>
                <a:sym typeface="Times New Roman"/>
              </a:rPr>
              <a:t>Gender distribution:</a:t>
            </a:r>
            <a:r>
              <a:rPr lang="en" sz="1200">
                <a:latin typeface="Times New Roman"/>
                <a:ea typeface="Times New Roman"/>
                <a:cs typeface="Times New Roman"/>
                <a:sym typeface="Times New Roman"/>
              </a:rPr>
              <a:t> 37% women, 63% men &amp; representation of women is lower in senior leadership roles. </a:t>
            </a:r>
            <a:r>
              <a:rPr b="1" lang="en">
                <a:latin typeface="Times New Roman"/>
                <a:ea typeface="Times New Roman"/>
                <a:cs typeface="Times New Roman"/>
                <a:sym typeface="Times New Roman"/>
              </a:rPr>
              <a:t>Race and ethnicity:</a:t>
            </a:r>
            <a:r>
              <a:rPr b="1" lang="en" sz="1200">
                <a:latin typeface="Times New Roman"/>
                <a:ea typeface="Times New Roman"/>
                <a:cs typeface="Times New Roman"/>
                <a:sym typeface="Times New Roman"/>
              </a:rPr>
              <a:t> </a:t>
            </a:r>
            <a:r>
              <a:rPr lang="en" sz="1200">
                <a:latin typeface="Times New Roman"/>
                <a:ea typeface="Times New Roman"/>
                <a:cs typeface="Times New Roman"/>
                <a:sym typeface="Times New Roman"/>
              </a:rPr>
              <a:t>69% White, 12% Asian, 11% Hispanic/Latino, with the remaining ~8% identifying with other backgrounds. </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Racial/ethnic diversity is stronger at entry and mid-levels but very limited in top leadership.</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p:txBody>
      </p:sp>
      <p:sp>
        <p:nvSpPr>
          <p:cNvPr id="532" name="Google Shape;532;p69"/>
          <p:cNvSpPr/>
          <p:nvPr/>
        </p:nvSpPr>
        <p:spPr>
          <a:xfrm>
            <a:off x="4503300" y="1138000"/>
            <a:ext cx="4599000" cy="352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Global Operations &amp; Collaboration Challenges: </a:t>
            </a:r>
            <a:r>
              <a:rPr lang="en" sz="1200">
                <a:latin typeface="Times New Roman"/>
                <a:ea typeface="Times New Roman"/>
                <a:cs typeface="Times New Roman"/>
                <a:sym typeface="Times New Roman"/>
              </a:rPr>
              <a:t>HarbourVest operates across many regions and time zones in various continents. Teams face challenges in communications, building relationships, and quick feedback as people are working together remotely over 8-12 hour times gaps.</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a:p>
            <a:pPr indent="0" lvl="0" marL="0" rtl="0" algn="l">
              <a:spcBef>
                <a:spcPts val="0"/>
              </a:spcBef>
              <a:spcAft>
                <a:spcPts val="0"/>
              </a:spcAft>
              <a:buNone/>
            </a:pPr>
            <a:r>
              <a:rPr b="1" lang="en">
                <a:latin typeface="Times New Roman"/>
                <a:ea typeface="Times New Roman"/>
                <a:cs typeface="Times New Roman"/>
                <a:sym typeface="Times New Roman"/>
              </a:rPr>
              <a:t>Fragmented Data &amp; Technology Integration Issues: </a:t>
            </a:r>
            <a:r>
              <a:rPr lang="en" sz="1200">
                <a:latin typeface="Times New Roman"/>
                <a:ea typeface="Times New Roman"/>
                <a:cs typeface="Times New Roman"/>
                <a:sym typeface="Times New Roman"/>
              </a:rPr>
              <a:t>HarbourVest’s quick expansion and its dependence on outsourced data administration creates problems as there many </a:t>
            </a:r>
            <a:r>
              <a:rPr lang="en" sz="1200">
                <a:latin typeface="Times New Roman"/>
                <a:ea typeface="Times New Roman"/>
                <a:cs typeface="Times New Roman"/>
                <a:sym typeface="Times New Roman"/>
              </a:rPr>
              <a:t>incompatible</a:t>
            </a:r>
            <a:r>
              <a:rPr lang="en" sz="1200">
                <a:latin typeface="Times New Roman"/>
                <a:ea typeface="Times New Roman"/>
                <a:cs typeface="Times New Roman"/>
                <a:sym typeface="Times New Roman"/>
              </a:rPr>
              <a:t> data systems which only delays sharing crucial information and making fast important decisions during </a:t>
            </a:r>
            <a:r>
              <a:rPr lang="en" sz="1200">
                <a:latin typeface="Times New Roman"/>
                <a:ea typeface="Times New Roman"/>
                <a:cs typeface="Times New Roman"/>
                <a:sym typeface="Times New Roman"/>
              </a:rPr>
              <a:t>economic volatile periods.</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0"/>
          <p:cNvSpPr txBox="1"/>
          <p:nvPr>
            <p:ph type="title"/>
          </p:nvPr>
        </p:nvSpPr>
        <p:spPr>
          <a:xfrm>
            <a:off x="361975" y="337271"/>
            <a:ext cx="8111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Data Collection Methods</a:t>
            </a:r>
            <a:endParaRPr sz="3000"/>
          </a:p>
        </p:txBody>
      </p:sp>
      <p:sp>
        <p:nvSpPr>
          <p:cNvPr id="538" name="Google Shape;538;p70"/>
          <p:cNvSpPr/>
          <p:nvPr/>
        </p:nvSpPr>
        <p:spPr>
          <a:xfrm>
            <a:off x="4155725" y="931050"/>
            <a:ext cx="4081500" cy="140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Times New Roman"/>
                <a:ea typeface="Times New Roman"/>
                <a:cs typeface="Times New Roman"/>
                <a:sym typeface="Times New Roman"/>
              </a:rPr>
              <a:t>Interviews</a:t>
            </a:r>
            <a:endParaRPr b="1" sz="1600">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Interviews with HarbourVest employees (Analia Graham &amp; Suaida) about communication and output challenges.</a:t>
            </a:r>
            <a:endParaRPr>
              <a:latin typeface="Times New Roman"/>
              <a:ea typeface="Times New Roman"/>
              <a:cs typeface="Times New Roman"/>
              <a:sym typeface="Times New Roman"/>
            </a:endParaRPr>
          </a:p>
        </p:txBody>
      </p:sp>
      <p:sp>
        <p:nvSpPr>
          <p:cNvPr id="539" name="Google Shape;539;p70"/>
          <p:cNvSpPr/>
          <p:nvPr/>
        </p:nvSpPr>
        <p:spPr>
          <a:xfrm>
            <a:off x="4155725" y="2634000"/>
            <a:ext cx="4081500" cy="140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457200" lvl="0" marL="0" rtl="0" algn="l">
              <a:spcBef>
                <a:spcPts val="0"/>
              </a:spcBef>
              <a:spcAft>
                <a:spcPts val="0"/>
              </a:spcAft>
              <a:buNone/>
            </a:pPr>
            <a:r>
              <a:rPr b="1" lang="en" sz="1600">
                <a:latin typeface="Times New Roman"/>
                <a:ea typeface="Times New Roman"/>
                <a:cs typeface="Times New Roman"/>
                <a:sym typeface="Times New Roman"/>
              </a:rPr>
              <a:t>Secondary Data Research</a:t>
            </a:r>
            <a:endParaRPr b="1" sz="1600">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Research on HarbourVest and similar private-market firms to compare communication issues and best practices.</a:t>
            </a:r>
            <a:endParaRPr>
              <a:latin typeface="Times New Roman"/>
              <a:ea typeface="Times New Roman"/>
              <a:cs typeface="Times New Roman"/>
              <a:sym typeface="Times New Roman"/>
            </a:endParaRPr>
          </a:p>
        </p:txBody>
      </p:sp>
      <p:sp>
        <p:nvSpPr>
          <p:cNvPr id="540" name="Google Shape;540;p7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41" name="Google Shape;541;p70"/>
          <p:cNvSpPr/>
          <p:nvPr/>
        </p:nvSpPr>
        <p:spPr>
          <a:xfrm>
            <a:off x="408575" y="877559"/>
            <a:ext cx="609300" cy="335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latin typeface="Times New Roman"/>
                <a:ea typeface="Times New Roman"/>
                <a:cs typeface="Times New Roman"/>
                <a:sym typeface="Times New Roman"/>
              </a:rPr>
              <a:t>Weeks 4–5</a:t>
            </a:r>
            <a:endParaRPr b="1" sz="1000">
              <a:latin typeface="Times New Roman"/>
              <a:ea typeface="Times New Roman"/>
              <a:cs typeface="Times New Roman"/>
              <a:sym typeface="Times New Roman"/>
            </a:endParaRPr>
          </a:p>
        </p:txBody>
      </p:sp>
      <p:sp>
        <p:nvSpPr>
          <p:cNvPr id="542" name="Google Shape;542;p70"/>
          <p:cNvSpPr/>
          <p:nvPr/>
        </p:nvSpPr>
        <p:spPr>
          <a:xfrm>
            <a:off x="408575" y="1690034"/>
            <a:ext cx="609300" cy="335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latin typeface="Times New Roman"/>
                <a:ea typeface="Times New Roman"/>
                <a:cs typeface="Times New Roman"/>
                <a:sym typeface="Times New Roman"/>
              </a:rPr>
              <a:t>Weeks  5–8:</a:t>
            </a:r>
            <a:endParaRPr b="1" sz="1000">
              <a:latin typeface="Times New Roman"/>
              <a:ea typeface="Times New Roman"/>
              <a:cs typeface="Times New Roman"/>
              <a:sym typeface="Times New Roman"/>
            </a:endParaRPr>
          </a:p>
        </p:txBody>
      </p:sp>
      <p:sp>
        <p:nvSpPr>
          <p:cNvPr id="543" name="Google Shape;543;p70"/>
          <p:cNvSpPr/>
          <p:nvPr/>
        </p:nvSpPr>
        <p:spPr>
          <a:xfrm>
            <a:off x="408575" y="2962371"/>
            <a:ext cx="609300" cy="335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latin typeface="Times New Roman"/>
                <a:ea typeface="Times New Roman"/>
                <a:cs typeface="Times New Roman"/>
                <a:sym typeface="Times New Roman"/>
              </a:rPr>
              <a:t>Week</a:t>
            </a:r>
            <a:endParaRPr b="1" sz="1000">
              <a:latin typeface="Times New Roman"/>
              <a:ea typeface="Times New Roman"/>
              <a:cs typeface="Times New Roman"/>
              <a:sym typeface="Times New Roman"/>
            </a:endParaRPr>
          </a:p>
          <a:p>
            <a:pPr indent="0" lvl="0" marL="0" rtl="0" algn="l">
              <a:spcBef>
                <a:spcPts val="0"/>
              </a:spcBef>
              <a:spcAft>
                <a:spcPts val="0"/>
              </a:spcAft>
              <a:buNone/>
            </a:pPr>
            <a:r>
              <a:rPr b="1" lang="en" sz="1000">
                <a:latin typeface="Times New Roman"/>
                <a:ea typeface="Times New Roman"/>
                <a:cs typeface="Times New Roman"/>
                <a:sym typeface="Times New Roman"/>
              </a:rPr>
              <a:t>9</a:t>
            </a:r>
            <a:endParaRPr b="1" sz="1000">
              <a:latin typeface="Times New Roman"/>
              <a:ea typeface="Times New Roman"/>
              <a:cs typeface="Times New Roman"/>
              <a:sym typeface="Times New Roman"/>
            </a:endParaRPr>
          </a:p>
        </p:txBody>
      </p:sp>
      <p:sp>
        <p:nvSpPr>
          <p:cNvPr id="544" name="Google Shape;544;p70"/>
          <p:cNvSpPr/>
          <p:nvPr/>
        </p:nvSpPr>
        <p:spPr>
          <a:xfrm>
            <a:off x="408575" y="3925146"/>
            <a:ext cx="609300" cy="335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latin typeface="Times New Roman"/>
                <a:ea typeface="Times New Roman"/>
                <a:cs typeface="Times New Roman"/>
                <a:sym typeface="Times New Roman"/>
              </a:rPr>
              <a:t>Weeks</a:t>
            </a:r>
            <a:endParaRPr b="1" sz="1000">
              <a:latin typeface="Times New Roman"/>
              <a:ea typeface="Times New Roman"/>
              <a:cs typeface="Times New Roman"/>
              <a:sym typeface="Times New Roman"/>
            </a:endParaRPr>
          </a:p>
          <a:p>
            <a:pPr indent="0" lvl="0" marL="0" rtl="0" algn="l">
              <a:spcBef>
                <a:spcPts val="0"/>
              </a:spcBef>
              <a:spcAft>
                <a:spcPts val="0"/>
              </a:spcAft>
              <a:buNone/>
            </a:pPr>
            <a:r>
              <a:rPr b="1" lang="en" sz="1000">
                <a:latin typeface="Times New Roman"/>
                <a:ea typeface="Times New Roman"/>
                <a:cs typeface="Times New Roman"/>
                <a:sym typeface="Times New Roman"/>
              </a:rPr>
              <a:t>10-13</a:t>
            </a:r>
            <a:endParaRPr b="1" sz="1000">
              <a:latin typeface="Times New Roman"/>
              <a:ea typeface="Times New Roman"/>
              <a:cs typeface="Times New Roman"/>
              <a:sym typeface="Times New Roman"/>
            </a:endParaRPr>
          </a:p>
        </p:txBody>
      </p:sp>
      <p:sp>
        <p:nvSpPr>
          <p:cNvPr id="545" name="Google Shape;545;p70"/>
          <p:cNvSpPr/>
          <p:nvPr/>
        </p:nvSpPr>
        <p:spPr>
          <a:xfrm>
            <a:off x="1017875" y="1064475"/>
            <a:ext cx="2634000" cy="554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Times New Roman"/>
                <a:ea typeface="Times New Roman"/>
                <a:cs typeface="Times New Roman"/>
                <a:sym typeface="Times New Roman"/>
              </a:rPr>
              <a:t>Contact HarbourVest reps and send interview questions on communication and collaboration.</a:t>
            </a:r>
            <a:endParaRPr sz="1100">
              <a:latin typeface="Times New Roman"/>
              <a:ea typeface="Times New Roman"/>
              <a:cs typeface="Times New Roman"/>
              <a:sym typeface="Times New Roman"/>
            </a:endParaRPr>
          </a:p>
        </p:txBody>
      </p:sp>
      <p:sp>
        <p:nvSpPr>
          <p:cNvPr id="546" name="Google Shape;546;p70"/>
          <p:cNvSpPr/>
          <p:nvPr/>
        </p:nvSpPr>
        <p:spPr>
          <a:xfrm>
            <a:off x="1017875" y="1843936"/>
            <a:ext cx="2634000" cy="893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Times New Roman"/>
                <a:ea typeface="Times New Roman"/>
                <a:cs typeface="Times New Roman"/>
                <a:sym typeface="Times New Roman"/>
              </a:rPr>
              <a:t>Start secondary research on private markets; hold first interview with Analia and analyze feedback on time zones, remote tools, and global expansion.</a:t>
            </a:r>
            <a:endParaRPr sz="1100">
              <a:latin typeface="Times New Roman"/>
              <a:ea typeface="Times New Roman"/>
              <a:cs typeface="Times New Roman"/>
              <a:sym typeface="Times New Roman"/>
            </a:endParaRPr>
          </a:p>
        </p:txBody>
      </p:sp>
      <p:sp>
        <p:nvSpPr>
          <p:cNvPr id="547" name="Google Shape;547;p70"/>
          <p:cNvSpPr/>
          <p:nvPr/>
        </p:nvSpPr>
        <p:spPr>
          <a:xfrm>
            <a:off x="1017875" y="3006350"/>
            <a:ext cx="2634000" cy="7662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Times New Roman"/>
                <a:ea typeface="Times New Roman"/>
                <a:cs typeface="Times New Roman"/>
                <a:sym typeface="Times New Roman"/>
              </a:rPr>
              <a:t>Conduct second interview with a junior employee in Saudi to compare perspectives on communication and productivity.</a:t>
            </a:r>
            <a:endParaRPr sz="1100">
              <a:latin typeface="Times New Roman"/>
              <a:ea typeface="Times New Roman"/>
              <a:cs typeface="Times New Roman"/>
              <a:sym typeface="Times New Roman"/>
            </a:endParaRPr>
          </a:p>
        </p:txBody>
      </p:sp>
      <p:sp>
        <p:nvSpPr>
          <p:cNvPr id="548" name="Google Shape;548;p70"/>
          <p:cNvSpPr/>
          <p:nvPr/>
        </p:nvSpPr>
        <p:spPr>
          <a:xfrm>
            <a:off x="1017875" y="4041600"/>
            <a:ext cx="2634000" cy="8277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Times New Roman"/>
                <a:ea typeface="Times New Roman"/>
                <a:cs typeface="Times New Roman"/>
                <a:sym typeface="Times New Roman"/>
              </a:rPr>
              <a:t>Combine interview and research findings, link them to emotional intelligence &amp; organizational justice, and draft recommendations to improve cross-regional collaboration.</a:t>
            </a:r>
            <a:endParaRPr sz="1100">
              <a:latin typeface="Times New Roman"/>
              <a:ea typeface="Times New Roman"/>
              <a:cs typeface="Times New Roman"/>
              <a:sym typeface="Times New Roman"/>
            </a:endParaRPr>
          </a:p>
        </p:txBody>
      </p:sp>
      <p:sp>
        <p:nvSpPr>
          <p:cNvPr id="549" name="Google Shape;549;p70"/>
          <p:cNvSpPr/>
          <p:nvPr/>
        </p:nvSpPr>
        <p:spPr>
          <a:xfrm>
            <a:off x="619925" y="1283788"/>
            <a:ext cx="186600" cy="335100"/>
          </a:xfrm>
          <a:prstGeom prst="down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50" name="Google Shape;550;p70"/>
          <p:cNvSpPr/>
          <p:nvPr/>
        </p:nvSpPr>
        <p:spPr>
          <a:xfrm>
            <a:off x="580325" y="3370563"/>
            <a:ext cx="265800" cy="481500"/>
          </a:xfrm>
          <a:prstGeom prst="down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51" name="Google Shape;551;p70"/>
          <p:cNvSpPr/>
          <p:nvPr/>
        </p:nvSpPr>
        <p:spPr>
          <a:xfrm>
            <a:off x="580325" y="2079900"/>
            <a:ext cx="265800" cy="827700"/>
          </a:xfrm>
          <a:prstGeom prst="down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552" name="Google Shape;552;p70"/>
          <p:cNvPicPr preferRelativeResize="0"/>
          <p:nvPr/>
        </p:nvPicPr>
        <p:blipFill>
          <a:blip r:embed="rId3">
            <a:alphaModFix/>
          </a:blip>
          <a:stretch>
            <a:fillRect/>
          </a:stretch>
        </p:blipFill>
        <p:spPr>
          <a:xfrm>
            <a:off x="-51875" y="4260250"/>
            <a:ext cx="827700" cy="827700"/>
          </a:xfrm>
          <a:prstGeom prst="rect">
            <a:avLst/>
          </a:prstGeom>
          <a:noFill/>
          <a:ln>
            <a:noFill/>
          </a:ln>
        </p:spPr>
      </p:pic>
      <p:pic>
        <p:nvPicPr>
          <p:cNvPr id="553" name="Google Shape;553;p70"/>
          <p:cNvPicPr preferRelativeResize="0"/>
          <p:nvPr/>
        </p:nvPicPr>
        <p:blipFill>
          <a:blip r:embed="rId4">
            <a:alphaModFix/>
          </a:blip>
          <a:stretch>
            <a:fillRect/>
          </a:stretch>
        </p:blipFill>
        <p:spPr>
          <a:xfrm>
            <a:off x="8377800" y="4291000"/>
            <a:ext cx="766200" cy="766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1"/>
          <p:cNvSpPr txBox="1"/>
          <p:nvPr>
            <p:ph type="title"/>
          </p:nvPr>
        </p:nvSpPr>
        <p:spPr>
          <a:xfrm>
            <a:off x="361975" y="337271"/>
            <a:ext cx="8111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Output Problem</a:t>
            </a:r>
            <a:endParaRPr sz="3000"/>
          </a:p>
        </p:txBody>
      </p:sp>
      <p:sp>
        <p:nvSpPr>
          <p:cNvPr id="559" name="Google Shape;559;p71"/>
          <p:cNvSpPr/>
          <p:nvPr/>
        </p:nvSpPr>
        <p:spPr>
          <a:xfrm>
            <a:off x="2125500" y="792375"/>
            <a:ext cx="4677300" cy="1976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300"/>
              <a:t>Output Problem: Global Communication Challenges</a:t>
            </a:r>
            <a:endParaRPr b="1" sz="1300"/>
          </a:p>
          <a:p>
            <a:pPr indent="-298450" lvl="0" marL="457200" rtl="0" algn="l">
              <a:lnSpc>
                <a:spcPct val="115000"/>
              </a:lnSpc>
              <a:spcBef>
                <a:spcPts val="1200"/>
              </a:spcBef>
              <a:spcAft>
                <a:spcPts val="0"/>
              </a:spcAft>
              <a:buSzPts val="1100"/>
              <a:buChar char="●"/>
            </a:pPr>
            <a:r>
              <a:rPr lang="en" sz="1100"/>
              <a:t>Difficult to schedule Zoom calls across global time zones</a:t>
            </a:r>
            <a:endParaRPr sz="1100"/>
          </a:p>
          <a:p>
            <a:pPr indent="-298450" lvl="0" marL="457200" rtl="0" algn="l">
              <a:lnSpc>
                <a:spcPct val="115000"/>
              </a:lnSpc>
              <a:spcBef>
                <a:spcPts val="0"/>
              </a:spcBef>
              <a:spcAft>
                <a:spcPts val="0"/>
              </a:spcAft>
              <a:buSzPts val="1100"/>
              <a:buChar char="●"/>
            </a:pPr>
            <a:r>
              <a:rPr lang="en" sz="1100"/>
              <a:t>Slow responses and fragmented communication delay multi-regional work</a:t>
            </a:r>
            <a:endParaRPr sz="1100"/>
          </a:p>
          <a:p>
            <a:pPr indent="-298450" lvl="0" marL="457200" rtl="0" algn="l">
              <a:lnSpc>
                <a:spcPct val="115000"/>
              </a:lnSpc>
              <a:spcBef>
                <a:spcPts val="0"/>
              </a:spcBef>
              <a:spcAft>
                <a:spcPts val="0"/>
              </a:spcAft>
              <a:buSzPts val="1100"/>
              <a:buChar char="●"/>
            </a:pPr>
            <a:r>
              <a:rPr lang="en" sz="1100"/>
              <a:t>Miscommunication leads to confusion, missed deadlines, and rework</a:t>
            </a:r>
            <a:endParaRPr sz="1100"/>
          </a:p>
          <a:p>
            <a:pPr indent="-298450" lvl="0" marL="457200" rtl="0" algn="l">
              <a:lnSpc>
                <a:spcPct val="115000"/>
              </a:lnSpc>
              <a:spcBef>
                <a:spcPts val="0"/>
              </a:spcBef>
              <a:spcAft>
                <a:spcPts val="0"/>
              </a:spcAft>
              <a:buSzPts val="1100"/>
              <a:buChar char="●"/>
            </a:pPr>
            <a:r>
              <a:rPr lang="en" sz="1100"/>
              <a:t>Lack of informal interaction weakens relationships and teamwork</a:t>
            </a:r>
            <a:endParaRPr sz="1100"/>
          </a:p>
          <a:p>
            <a:pPr indent="-298450" lvl="0" marL="457200" rtl="0" algn="l">
              <a:lnSpc>
                <a:spcPct val="115000"/>
              </a:lnSpc>
              <a:spcBef>
                <a:spcPts val="0"/>
              </a:spcBef>
              <a:spcAft>
                <a:spcPts val="0"/>
              </a:spcAft>
              <a:buSzPts val="1100"/>
              <a:buChar char="●"/>
            </a:pPr>
            <a:r>
              <a:rPr lang="en" sz="1100"/>
              <a:t>Remote reliance causes poor cross-office alignment and employee frustration</a:t>
            </a:r>
            <a:endParaRPr sz="1100"/>
          </a:p>
        </p:txBody>
      </p:sp>
      <p:sp>
        <p:nvSpPr>
          <p:cNvPr id="560" name="Google Shape;560;p71"/>
          <p:cNvSpPr/>
          <p:nvPr/>
        </p:nvSpPr>
        <p:spPr>
          <a:xfrm>
            <a:off x="309900" y="2808075"/>
            <a:ext cx="4039800" cy="204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100"/>
              <a:t>Management Perspective</a:t>
            </a:r>
            <a:endParaRPr b="1" sz="1100"/>
          </a:p>
          <a:p>
            <a:pPr indent="-298450" lvl="0" marL="457200" rtl="0" algn="l">
              <a:lnSpc>
                <a:spcPct val="115000"/>
              </a:lnSpc>
              <a:spcBef>
                <a:spcPts val="1200"/>
              </a:spcBef>
              <a:spcAft>
                <a:spcPts val="0"/>
              </a:spcAft>
              <a:buSzPts val="1100"/>
              <a:buChar char="●"/>
            </a:pPr>
            <a:r>
              <a:rPr lang="en" sz="1100"/>
              <a:t>Hard to coordinate meetings and decisions across time zones</a:t>
            </a:r>
            <a:endParaRPr sz="1100"/>
          </a:p>
          <a:p>
            <a:pPr indent="-298450" lvl="0" marL="457200" rtl="0" algn="l">
              <a:lnSpc>
                <a:spcPct val="115000"/>
              </a:lnSpc>
              <a:spcBef>
                <a:spcPts val="0"/>
              </a:spcBef>
              <a:spcAft>
                <a:spcPts val="0"/>
              </a:spcAft>
              <a:buSzPts val="1100"/>
              <a:buChar char="●"/>
            </a:pPr>
            <a:r>
              <a:rPr lang="en" sz="1100"/>
              <a:t>Cultural differences &amp; mixed communication styles cause misunderstandings</a:t>
            </a:r>
            <a:endParaRPr sz="1100"/>
          </a:p>
          <a:p>
            <a:pPr indent="-298450" lvl="0" marL="457200" rtl="0" algn="l">
              <a:lnSpc>
                <a:spcPct val="115000"/>
              </a:lnSpc>
              <a:spcBef>
                <a:spcPts val="0"/>
              </a:spcBef>
              <a:spcAft>
                <a:spcPts val="0"/>
              </a:spcAft>
              <a:buSzPts val="1100"/>
              <a:buChar char="●"/>
            </a:pPr>
            <a:r>
              <a:rPr lang="en" sz="1100"/>
              <a:t>Asynchronous messaging delays decisions and project progress</a:t>
            </a:r>
            <a:endParaRPr sz="1100"/>
          </a:p>
          <a:p>
            <a:pPr indent="-298450" lvl="0" marL="457200" rtl="0" algn="l">
              <a:lnSpc>
                <a:spcPct val="115000"/>
              </a:lnSpc>
              <a:spcBef>
                <a:spcPts val="0"/>
              </a:spcBef>
              <a:spcAft>
                <a:spcPts val="0"/>
              </a:spcAft>
              <a:buSzPts val="1100"/>
              <a:buChar char="●"/>
            </a:pPr>
            <a:r>
              <a:rPr lang="en" sz="1100"/>
              <a:t>Difficult to ensure every office receives information at the same time</a:t>
            </a:r>
            <a:endParaRPr sz="1100"/>
          </a:p>
        </p:txBody>
      </p:sp>
      <p:sp>
        <p:nvSpPr>
          <p:cNvPr id="561" name="Google Shape;561;p71"/>
          <p:cNvSpPr/>
          <p:nvPr/>
        </p:nvSpPr>
        <p:spPr>
          <a:xfrm>
            <a:off x="4705725" y="2886774"/>
            <a:ext cx="3876600" cy="204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100"/>
              <a:t>Employee Perspective</a:t>
            </a:r>
            <a:endParaRPr b="1" sz="1100"/>
          </a:p>
          <a:p>
            <a:pPr indent="-298450" lvl="0" marL="457200" rtl="0" algn="l">
              <a:lnSpc>
                <a:spcPct val="115000"/>
              </a:lnSpc>
              <a:spcBef>
                <a:spcPts val="1200"/>
              </a:spcBef>
              <a:spcAft>
                <a:spcPts val="0"/>
              </a:spcAft>
              <a:buSzPts val="1100"/>
              <a:buChar char="●"/>
            </a:pPr>
            <a:r>
              <a:rPr lang="en" sz="1100"/>
              <a:t>Unclear roles and priorities between offices</a:t>
            </a:r>
            <a:endParaRPr sz="1100"/>
          </a:p>
          <a:p>
            <a:pPr indent="-298450" lvl="0" marL="457200" rtl="0" algn="l">
              <a:lnSpc>
                <a:spcPct val="115000"/>
              </a:lnSpc>
              <a:spcBef>
                <a:spcPts val="0"/>
              </a:spcBef>
              <a:spcAft>
                <a:spcPts val="0"/>
              </a:spcAft>
              <a:buSzPts val="1100"/>
              <a:buChar char="●"/>
            </a:pPr>
            <a:r>
              <a:rPr lang="en" sz="1100"/>
              <a:t>Frustration from vague instructions and slow responses</a:t>
            </a:r>
            <a:endParaRPr sz="1100"/>
          </a:p>
          <a:p>
            <a:pPr indent="-298450" lvl="0" marL="457200" rtl="0" algn="l">
              <a:lnSpc>
                <a:spcPct val="115000"/>
              </a:lnSpc>
              <a:spcBef>
                <a:spcPts val="0"/>
              </a:spcBef>
              <a:spcAft>
                <a:spcPts val="0"/>
              </a:spcAft>
              <a:buSzPts val="1100"/>
              <a:buChar char="●"/>
            </a:pPr>
            <a:r>
              <a:rPr lang="en" sz="1100"/>
              <a:t>Feeling excluded from important decisions or updates</a:t>
            </a:r>
            <a:endParaRPr sz="1100"/>
          </a:p>
          <a:p>
            <a:pPr indent="-298450" lvl="0" marL="457200" rtl="0" algn="l">
              <a:lnSpc>
                <a:spcPct val="115000"/>
              </a:lnSpc>
              <a:spcBef>
                <a:spcPts val="0"/>
              </a:spcBef>
              <a:spcAft>
                <a:spcPts val="0"/>
              </a:spcAft>
              <a:buSzPts val="1100"/>
              <a:buChar char="●"/>
            </a:pPr>
            <a:r>
              <a:rPr lang="en" sz="1100"/>
              <a:t>Miscommunication leads to errors and duplicated work</a:t>
            </a:r>
            <a:endParaRPr sz="1100"/>
          </a:p>
        </p:txBody>
      </p:sp>
      <p:pic>
        <p:nvPicPr>
          <p:cNvPr id="562" name="Google Shape;562;p71"/>
          <p:cNvPicPr preferRelativeResize="0"/>
          <p:nvPr/>
        </p:nvPicPr>
        <p:blipFill>
          <a:blip r:embed="rId3">
            <a:alphaModFix/>
          </a:blip>
          <a:stretch>
            <a:fillRect/>
          </a:stretch>
        </p:blipFill>
        <p:spPr>
          <a:xfrm>
            <a:off x="7235925" y="1272325"/>
            <a:ext cx="1660300" cy="1094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72"/>
          <p:cNvSpPr txBox="1"/>
          <p:nvPr>
            <p:ph type="title"/>
          </p:nvPr>
        </p:nvSpPr>
        <p:spPr>
          <a:xfrm>
            <a:off x="361975" y="337271"/>
            <a:ext cx="8111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Concept 1- Emotional Intelligence</a:t>
            </a:r>
            <a:endParaRPr sz="3000"/>
          </a:p>
        </p:txBody>
      </p:sp>
      <p:sp>
        <p:nvSpPr>
          <p:cNvPr id="568" name="Google Shape;568;p72"/>
          <p:cNvSpPr/>
          <p:nvPr/>
        </p:nvSpPr>
        <p:spPr>
          <a:xfrm>
            <a:off x="208150" y="1159625"/>
            <a:ext cx="3220800" cy="158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Definition:</a:t>
            </a:r>
            <a:r>
              <a:rPr lang="en">
                <a:latin typeface="Times New Roman"/>
                <a:ea typeface="Times New Roman"/>
                <a:cs typeface="Times New Roman"/>
                <a:sym typeface="Times New Roman"/>
              </a:rPr>
              <a:t> </a:t>
            </a:r>
            <a:r>
              <a:rPr lang="en" sz="1200">
                <a:latin typeface="Times New Roman"/>
                <a:ea typeface="Times New Roman"/>
                <a:cs typeface="Times New Roman"/>
                <a:sym typeface="Times New Roman"/>
              </a:rPr>
              <a:t>EI is the ability to understand, identify, and manage one’s emotions while responding </a:t>
            </a:r>
            <a:r>
              <a:rPr lang="en" sz="1200">
                <a:latin typeface="Times New Roman"/>
                <a:ea typeface="Times New Roman"/>
                <a:cs typeface="Times New Roman"/>
                <a:sym typeface="Times New Roman"/>
              </a:rPr>
              <a:t>effectively</a:t>
            </a:r>
            <a:r>
              <a:rPr lang="en" sz="1200">
                <a:latin typeface="Times New Roman"/>
                <a:ea typeface="Times New Roman"/>
                <a:cs typeface="Times New Roman"/>
                <a:sym typeface="Times New Roman"/>
              </a:rPr>
              <a:t> to the emotions of others. EI allows individuals to have clear communication, strong relationships, and manage conflict </a:t>
            </a:r>
            <a:r>
              <a:rPr lang="en" sz="1200">
                <a:latin typeface="Times New Roman"/>
                <a:ea typeface="Times New Roman"/>
                <a:cs typeface="Times New Roman"/>
                <a:sym typeface="Times New Roman"/>
              </a:rPr>
              <a:t>effectively</a:t>
            </a:r>
            <a:r>
              <a:rPr lang="en" sz="1200">
                <a:latin typeface="Times New Roman"/>
                <a:ea typeface="Times New Roman"/>
                <a:cs typeface="Times New Roman"/>
                <a:sym typeface="Times New Roman"/>
              </a:rPr>
              <a:t> within teams.</a:t>
            </a:r>
            <a:endParaRPr sz="1200">
              <a:latin typeface="Times New Roman"/>
              <a:ea typeface="Times New Roman"/>
              <a:cs typeface="Times New Roman"/>
              <a:sym typeface="Times New Roman"/>
            </a:endParaRPr>
          </a:p>
        </p:txBody>
      </p:sp>
      <p:sp>
        <p:nvSpPr>
          <p:cNvPr id="569" name="Google Shape;569;p72"/>
          <p:cNvSpPr/>
          <p:nvPr/>
        </p:nvSpPr>
        <p:spPr>
          <a:xfrm>
            <a:off x="4286250" y="1008600"/>
            <a:ext cx="4080300" cy="223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Benefits</a:t>
            </a:r>
            <a:r>
              <a:rPr b="1" lang="en">
                <a:latin typeface="Times New Roman"/>
                <a:ea typeface="Times New Roman"/>
                <a:cs typeface="Times New Roman"/>
                <a:sym typeface="Times New Roman"/>
              </a:rPr>
              <a:t>: </a:t>
            </a:r>
            <a:endParaRPr b="1"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 sz="1200">
                <a:latin typeface="Times New Roman"/>
                <a:ea typeface="Times New Roman"/>
                <a:cs typeface="Times New Roman"/>
                <a:sym typeface="Times New Roman"/>
              </a:rPr>
              <a:t>More empathy with cultural difference and across regions. </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 sz="1200">
                <a:latin typeface="Times New Roman"/>
                <a:ea typeface="Times New Roman"/>
                <a:cs typeface="Times New Roman"/>
                <a:sym typeface="Times New Roman"/>
              </a:rPr>
              <a:t>Clearer communication and less misunderstandings</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 sz="1200">
                <a:latin typeface="Times New Roman"/>
                <a:ea typeface="Times New Roman"/>
                <a:cs typeface="Times New Roman"/>
                <a:sym typeface="Times New Roman"/>
              </a:rPr>
              <a:t>Increased self-regulation, helping with managing stress</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 sz="1200">
                <a:latin typeface="Times New Roman"/>
                <a:ea typeface="Times New Roman"/>
                <a:cs typeface="Times New Roman"/>
                <a:sym typeface="Times New Roman"/>
              </a:rPr>
              <a:t>Allows for building trust and cohesion and increased </a:t>
            </a:r>
            <a:r>
              <a:rPr lang="en" sz="1200">
                <a:latin typeface="Times New Roman"/>
                <a:ea typeface="Times New Roman"/>
                <a:cs typeface="Times New Roman"/>
                <a:sym typeface="Times New Roman"/>
              </a:rPr>
              <a:t>productivity</a:t>
            </a:r>
            <a:r>
              <a:rPr lang="en" sz="1200">
                <a:latin typeface="Times New Roman"/>
                <a:ea typeface="Times New Roman"/>
                <a:cs typeface="Times New Roman"/>
                <a:sym typeface="Times New Roman"/>
              </a:rPr>
              <a:t> &amp; team chemistry</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 sz="1200">
                <a:latin typeface="Times New Roman"/>
                <a:ea typeface="Times New Roman"/>
                <a:cs typeface="Times New Roman"/>
                <a:sym typeface="Times New Roman"/>
              </a:rPr>
              <a:t>Better leadership development and more effective decision making.</a:t>
            </a:r>
            <a:endParaRPr sz="1200">
              <a:latin typeface="Times New Roman"/>
              <a:ea typeface="Times New Roman"/>
              <a:cs typeface="Times New Roman"/>
              <a:sym typeface="Times New Roman"/>
            </a:endParaRPr>
          </a:p>
        </p:txBody>
      </p:sp>
      <p:sp>
        <p:nvSpPr>
          <p:cNvPr id="570" name="Google Shape;570;p72"/>
          <p:cNvSpPr/>
          <p:nvPr/>
        </p:nvSpPr>
        <p:spPr>
          <a:xfrm>
            <a:off x="154375" y="2886425"/>
            <a:ext cx="3947400" cy="198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Relation to Output Problem</a:t>
            </a:r>
            <a:r>
              <a:rPr b="1" lang="en">
                <a:latin typeface="Times New Roman"/>
                <a:ea typeface="Times New Roman"/>
                <a:cs typeface="Times New Roman"/>
                <a:sym typeface="Times New Roman"/>
              </a:rPr>
              <a:t>:</a:t>
            </a:r>
            <a:r>
              <a:rPr lang="en">
                <a:latin typeface="Times New Roman"/>
                <a:ea typeface="Times New Roman"/>
                <a:cs typeface="Times New Roman"/>
                <a:sym typeface="Times New Roman"/>
              </a:rPr>
              <a:t> EI allows </a:t>
            </a:r>
            <a:r>
              <a:rPr lang="en">
                <a:latin typeface="Times New Roman"/>
                <a:ea typeface="Times New Roman"/>
                <a:cs typeface="Times New Roman"/>
                <a:sym typeface="Times New Roman"/>
              </a:rPr>
              <a:t>employees</a:t>
            </a:r>
            <a:r>
              <a:rPr lang="en">
                <a:latin typeface="Times New Roman"/>
                <a:ea typeface="Times New Roman"/>
                <a:cs typeface="Times New Roman"/>
                <a:sym typeface="Times New Roman"/>
              </a:rPr>
              <a:t> and upper management to stay composed during issues like delayed responses, time-zone misalignment, and </a:t>
            </a:r>
            <a:r>
              <a:rPr lang="en">
                <a:latin typeface="Times New Roman"/>
                <a:ea typeface="Times New Roman"/>
                <a:cs typeface="Times New Roman"/>
                <a:sym typeface="Times New Roman"/>
              </a:rPr>
              <a:t>incompatible</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data</a:t>
            </a:r>
            <a:r>
              <a:rPr lang="en">
                <a:latin typeface="Times New Roman"/>
                <a:ea typeface="Times New Roman"/>
                <a:cs typeface="Times New Roman"/>
                <a:sym typeface="Times New Roman"/>
              </a:rPr>
              <a:t> systems. Great EI allows for workforces to stay patient and able to collaborate and focus on </a:t>
            </a:r>
            <a:r>
              <a:rPr lang="en">
                <a:latin typeface="Times New Roman"/>
                <a:ea typeface="Times New Roman"/>
                <a:cs typeface="Times New Roman"/>
                <a:sym typeface="Times New Roman"/>
              </a:rPr>
              <a:t>solutions</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effectively</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during</a:t>
            </a:r>
            <a:r>
              <a:rPr lang="en">
                <a:latin typeface="Times New Roman"/>
                <a:ea typeface="Times New Roman"/>
                <a:cs typeface="Times New Roman"/>
                <a:sym typeface="Times New Roman"/>
              </a:rPr>
              <a:t> times of issue.</a:t>
            </a:r>
            <a:endParaRPr sz="1200">
              <a:latin typeface="Times New Roman"/>
              <a:ea typeface="Times New Roman"/>
              <a:cs typeface="Times New Roman"/>
              <a:sym typeface="Times New Roman"/>
            </a:endParaRPr>
          </a:p>
        </p:txBody>
      </p:sp>
      <p:pic>
        <p:nvPicPr>
          <p:cNvPr id="571" name="Google Shape;571;p72"/>
          <p:cNvPicPr preferRelativeResize="0"/>
          <p:nvPr/>
        </p:nvPicPr>
        <p:blipFill>
          <a:blip r:embed="rId3">
            <a:alphaModFix/>
          </a:blip>
          <a:stretch>
            <a:fillRect/>
          </a:stretch>
        </p:blipFill>
        <p:spPr>
          <a:xfrm>
            <a:off x="5338175" y="3532774"/>
            <a:ext cx="2167299" cy="11378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3"/>
          <p:cNvSpPr txBox="1"/>
          <p:nvPr>
            <p:ph type="title"/>
          </p:nvPr>
        </p:nvSpPr>
        <p:spPr>
          <a:xfrm>
            <a:off x="361975" y="337271"/>
            <a:ext cx="8111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Supporting Evidence</a:t>
            </a:r>
            <a:endParaRPr sz="3000"/>
          </a:p>
        </p:txBody>
      </p:sp>
      <p:sp>
        <p:nvSpPr>
          <p:cNvPr id="577" name="Google Shape;577;p73"/>
          <p:cNvSpPr/>
          <p:nvPr/>
        </p:nvSpPr>
        <p:spPr>
          <a:xfrm>
            <a:off x="2682250" y="950025"/>
            <a:ext cx="5867400" cy="382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500"/>
              <a:t>Interview - Analia Graham:</a:t>
            </a:r>
            <a:br>
              <a:rPr b="1" lang="en" sz="1500"/>
            </a:br>
            <a:r>
              <a:rPr lang="en" sz="1500"/>
              <a:t> Analia Graham, the Senior VP explained recurring delays and frustration caused by a very small scheduling window across global offices. In these situations, EI let leaders and employees control emotions, manage tones of communication, and keep cohesion, even when contact is slow.</a:t>
            </a:r>
            <a:endParaRPr sz="1500"/>
          </a:p>
          <a:p>
            <a:pPr indent="0" lvl="0" marL="0" rtl="0" algn="l">
              <a:lnSpc>
                <a:spcPct val="115000"/>
              </a:lnSpc>
              <a:spcBef>
                <a:spcPts val="1200"/>
              </a:spcBef>
              <a:spcAft>
                <a:spcPts val="0"/>
              </a:spcAft>
              <a:buNone/>
            </a:pPr>
            <a:r>
              <a:rPr b="1" lang="en" sz="1500"/>
              <a:t>Interview - Suaida Firzone:</a:t>
            </a:r>
            <a:br>
              <a:rPr b="1" lang="en" sz="1500"/>
            </a:br>
            <a:r>
              <a:rPr lang="en" sz="1500"/>
              <a:t>Suaida Firzone who is in a junior level talks about how large scaling of HarbourVest has created systems that are </a:t>
            </a:r>
            <a:r>
              <a:rPr lang="en" sz="1500"/>
              <a:t>incompatible</a:t>
            </a:r>
            <a:r>
              <a:rPr lang="en" sz="1500"/>
              <a:t> with each other and daily frustrations, which affects productivity and output. EI becomes vital for understanding colleagues handling the same obstacles and strengthening relationships  that are building despite little in-person connection. </a:t>
            </a:r>
            <a:endParaRPr sz="1500"/>
          </a:p>
          <a:p>
            <a:pPr indent="0" lvl="0" marL="0" rtl="0" algn="ctr">
              <a:spcBef>
                <a:spcPts val="1200"/>
              </a:spcBef>
              <a:spcAft>
                <a:spcPts val="0"/>
              </a:spcAft>
              <a:buNone/>
            </a:pPr>
            <a:r>
              <a:t/>
            </a:r>
            <a:endParaRPr>
              <a:latin typeface="Times New Roman"/>
              <a:ea typeface="Times New Roman"/>
              <a:cs typeface="Times New Roman"/>
              <a:sym typeface="Times New Roman"/>
            </a:endParaRPr>
          </a:p>
        </p:txBody>
      </p:sp>
      <p:pic>
        <p:nvPicPr>
          <p:cNvPr id="578" name="Google Shape;578;p73"/>
          <p:cNvPicPr preferRelativeResize="0"/>
          <p:nvPr/>
        </p:nvPicPr>
        <p:blipFill>
          <a:blip r:embed="rId3">
            <a:alphaModFix/>
          </a:blip>
          <a:stretch>
            <a:fillRect/>
          </a:stretch>
        </p:blipFill>
        <p:spPr>
          <a:xfrm>
            <a:off x="167950" y="2073096"/>
            <a:ext cx="2377450" cy="1752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74"/>
          <p:cNvSpPr txBox="1"/>
          <p:nvPr>
            <p:ph type="title"/>
          </p:nvPr>
        </p:nvSpPr>
        <p:spPr>
          <a:xfrm>
            <a:off x="361975" y="337271"/>
            <a:ext cx="8111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Supporting Evidence</a:t>
            </a:r>
            <a:endParaRPr sz="3000"/>
          </a:p>
        </p:txBody>
      </p:sp>
      <p:sp>
        <p:nvSpPr>
          <p:cNvPr id="584" name="Google Shape;584;p74"/>
          <p:cNvSpPr/>
          <p:nvPr/>
        </p:nvSpPr>
        <p:spPr>
          <a:xfrm>
            <a:off x="2682250" y="1066100"/>
            <a:ext cx="5867400" cy="371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100"/>
              <a:t>Emotional Regulation During Uncertainty:</a:t>
            </a:r>
            <a:br>
              <a:rPr b="1" lang="en" sz="1100"/>
            </a:br>
            <a:r>
              <a:rPr lang="en" sz="1100"/>
              <a:t>Global tariffs or investment </a:t>
            </a:r>
            <a:r>
              <a:rPr lang="en" sz="1100"/>
              <a:t>uncertainty</a:t>
            </a:r>
            <a:r>
              <a:rPr lang="en" sz="1100"/>
              <a:t> often require rapid company decisions, but EI helps mitigate reactions based on emotion, which allows employees to stay level headed and focused on solution. </a:t>
            </a:r>
            <a:r>
              <a:rPr lang="en" sz="1100"/>
              <a:t>Strong EI helps reduce productivity loss created by frustration with incapable systems, delays, and little of face-to-face interactions. Employees who have high EI can help consistent motivation and engagement, even through inefficiencies and uncertainty.</a:t>
            </a:r>
            <a:endParaRPr sz="1100"/>
          </a:p>
          <a:p>
            <a:pPr indent="0" lvl="0" marL="0" rtl="0" algn="l">
              <a:lnSpc>
                <a:spcPct val="115000"/>
              </a:lnSpc>
              <a:spcBef>
                <a:spcPts val="1200"/>
              </a:spcBef>
              <a:spcAft>
                <a:spcPts val="0"/>
              </a:spcAft>
              <a:buNone/>
            </a:pPr>
            <a:r>
              <a:rPr b="1" lang="en" sz="1100"/>
              <a:t>Cross-Cultural Understanding:</a:t>
            </a:r>
            <a:br>
              <a:rPr b="1" lang="en" sz="1100"/>
            </a:br>
            <a:r>
              <a:rPr lang="en" sz="1100"/>
              <a:t>With HarbourVest global employees collaborating from the UK, India, Hong Kong, and Abu Dhabi, EI helps workers to </a:t>
            </a:r>
            <a:r>
              <a:rPr lang="en" sz="1100"/>
              <a:t>understand</a:t>
            </a:r>
            <a:r>
              <a:rPr lang="en" sz="1100"/>
              <a:t> cultural norms, communication styles, and contrasting workflows, which minimizes misunderstandings and improving clear clarity of expectations within teams.</a:t>
            </a:r>
            <a:endParaRPr sz="1100"/>
          </a:p>
          <a:p>
            <a:pPr indent="0" lvl="0" marL="0" rtl="0" algn="l">
              <a:lnSpc>
                <a:spcPct val="115000"/>
              </a:lnSpc>
              <a:spcBef>
                <a:spcPts val="1200"/>
              </a:spcBef>
              <a:spcAft>
                <a:spcPts val="0"/>
              </a:spcAft>
              <a:buNone/>
            </a:pPr>
            <a:r>
              <a:rPr b="1" lang="en" sz="1100"/>
              <a:t>Building a Sustainable EI Strategy:</a:t>
            </a:r>
            <a:endParaRPr b="1" sz="1100"/>
          </a:p>
          <a:p>
            <a:pPr indent="0" lvl="0" marL="0" rtl="0" algn="l">
              <a:lnSpc>
                <a:spcPct val="115000"/>
              </a:lnSpc>
              <a:spcBef>
                <a:spcPts val="0"/>
              </a:spcBef>
              <a:spcAft>
                <a:spcPts val="0"/>
              </a:spcAft>
              <a:buNone/>
            </a:pPr>
            <a:r>
              <a:rPr lang="en" sz="1100"/>
              <a:t>Developing in-depth EI training can support communication improvement long term, improve morale of employees, and create a </a:t>
            </a:r>
            <a:r>
              <a:rPr lang="en" sz="1100"/>
              <a:t>company</a:t>
            </a:r>
            <a:r>
              <a:rPr lang="en" sz="1100"/>
              <a:t> culture where teams empathize, clarify, and adapt, instead of reacting emotionally to these internal challenges.</a:t>
            </a:r>
            <a:endParaRPr sz="1100"/>
          </a:p>
          <a:p>
            <a:pPr indent="0" lvl="0" marL="0" rtl="0" algn="ctr">
              <a:spcBef>
                <a:spcPts val="1200"/>
              </a:spcBef>
              <a:spcAft>
                <a:spcPts val="0"/>
              </a:spcAft>
              <a:buNone/>
            </a:pPr>
            <a:r>
              <a:t/>
            </a:r>
            <a:endParaRPr>
              <a:latin typeface="Times New Roman"/>
              <a:ea typeface="Times New Roman"/>
              <a:cs typeface="Times New Roman"/>
              <a:sym typeface="Times New Roman"/>
            </a:endParaRPr>
          </a:p>
        </p:txBody>
      </p:sp>
      <p:pic>
        <p:nvPicPr>
          <p:cNvPr id="585" name="Google Shape;585;p74"/>
          <p:cNvPicPr preferRelativeResize="0"/>
          <p:nvPr/>
        </p:nvPicPr>
        <p:blipFill>
          <a:blip r:embed="rId3">
            <a:alphaModFix/>
          </a:blip>
          <a:stretch>
            <a:fillRect/>
          </a:stretch>
        </p:blipFill>
        <p:spPr>
          <a:xfrm>
            <a:off x="424125" y="2206575"/>
            <a:ext cx="1666127" cy="9526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75"/>
          <p:cNvSpPr txBox="1"/>
          <p:nvPr>
            <p:ph type="title"/>
          </p:nvPr>
        </p:nvSpPr>
        <p:spPr>
          <a:xfrm>
            <a:off x="361975" y="337271"/>
            <a:ext cx="8111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Concept 2 - Organizational Justice</a:t>
            </a:r>
            <a:endParaRPr sz="3000"/>
          </a:p>
        </p:txBody>
      </p:sp>
      <p:sp>
        <p:nvSpPr>
          <p:cNvPr id="591" name="Google Shape;591;p75"/>
          <p:cNvSpPr/>
          <p:nvPr/>
        </p:nvSpPr>
        <p:spPr>
          <a:xfrm>
            <a:off x="208150" y="1159625"/>
            <a:ext cx="3220800" cy="158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Times New Roman"/>
                <a:ea typeface="Times New Roman"/>
                <a:cs typeface="Times New Roman"/>
                <a:sym typeface="Times New Roman"/>
              </a:rPr>
              <a:t>Definition:</a:t>
            </a:r>
            <a:r>
              <a:rPr lang="en" sz="1800">
                <a:latin typeface="Times New Roman"/>
                <a:ea typeface="Times New Roman"/>
                <a:cs typeface="Times New Roman"/>
                <a:sym typeface="Times New Roman"/>
              </a:rPr>
              <a:t> </a:t>
            </a:r>
            <a:r>
              <a:rPr lang="en" sz="1600">
                <a:latin typeface="Times New Roman"/>
                <a:ea typeface="Times New Roman"/>
                <a:cs typeface="Times New Roman"/>
                <a:sym typeface="Times New Roman"/>
              </a:rPr>
              <a:t>Organizational justice refers to employees’ perceptions that decisions, communication, and processes within a company are fair, transparent, and consistent.</a:t>
            </a:r>
            <a:endParaRPr sz="1600">
              <a:latin typeface="Times New Roman"/>
              <a:ea typeface="Times New Roman"/>
              <a:cs typeface="Times New Roman"/>
              <a:sym typeface="Times New Roman"/>
            </a:endParaRPr>
          </a:p>
        </p:txBody>
      </p:sp>
      <p:sp>
        <p:nvSpPr>
          <p:cNvPr id="592" name="Google Shape;592;p75"/>
          <p:cNvSpPr/>
          <p:nvPr/>
        </p:nvSpPr>
        <p:spPr>
          <a:xfrm>
            <a:off x="154375" y="2886425"/>
            <a:ext cx="3947400" cy="198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Relation to Output Problem:</a:t>
            </a:r>
            <a:r>
              <a:rPr lang="en">
                <a:latin typeface="Times New Roman"/>
                <a:ea typeface="Times New Roman"/>
                <a:cs typeface="Times New Roman"/>
                <a:sym typeface="Times New Roman"/>
              </a:rPr>
              <a:t> Disparity in the way information is communicated among employees creates a lack of trust and decreases coordination among people working at HarbourVest. These discrepancies create delays in productivity, confusion within global teams, and inefficient methods of collaboration.</a:t>
            </a:r>
            <a:endParaRPr>
              <a:latin typeface="Times New Roman"/>
              <a:ea typeface="Times New Roman"/>
              <a:cs typeface="Times New Roman"/>
              <a:sym typeface="Times New Roman"/>
            </a:endParaRPr>
          </a:p>
        </p:txBody>
      </p:sp>
      <p:sp>
        <p:nvSpPr>
          <p:cNvPr id="593" name="Google Shape;593;p75"/>
          <p:cNvSpPr/>
          <p:nvPr/>
        </p:nvSpPr>
        <p:spPr>
          <a:xfrm>
            <a:off x="4286250" y="1008600"/>
            <a:ext cx="4383900" cy="3686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Times New Roman"/>
                <a:ea typeface="Times New Roman"/>
                <a:cs typeface="Times New Roman"/>
                <a:sym typeface="Times New Roman"/>
              </a:rPr>
              <a:t>Benefits: </a:t>
            </a:r>
            <a:endParaRPr b="1" sz="1300">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AutoNum type="arabicPeriod"/>
            </a:pPr>
            <a:r>
              <a:rPr lang="en" sz="1300">
                <a:latin typeface="Times New Roman"/>
                <a:ea typeface="Times New Roman"/>
                <a:cs typeface="Times New Roman"/>
                <a:sym typeface="Times New Roman"/>
              </a:rPr>
              <a:t>Higher Trust in Leadership: When decisions feel fair and transparent, employees are more likely to trust managers and organizational direction.</a:t>
            </a:r>
            <a:endParaRPr sz="1300">
              <a:latin typeface="Times New Roman"/>
              <a:ea typeface="Times New Roman"/>
              <a:cs typeface="Times New Roman"/>
              <a:sym typeface="Times New Roman"/>
            </a:endParaRPr>
          </a:p>
          <a:p>
            <a:pPr indent="0" lvl="0" marL="457200" rtl="0" algn="l">
              <a:spcBef>
                <a:spcPts val="0"/>
              </a:spcBef>
              <a:spcAft>
                <a:spcPts val="0"/>
              </a:spcAft>
              <a:buNone/>
            </a:pPr>
            <a:r>
              <a:t/>
            </a:r>
            <a:endParaRPr sz="1300">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AutoNum type="arabicPeriod"/>
            </a:pPr>
            <a:r>
              <a:rPr lang="en" sz="1300">
                <a:latin typeface="Times New Roman"/>
                <a:ea typeface="Times New Roman"/>
                <a:cs typeface="Times New Roman"/>
                <a:sym typeface="Times New Roman"/>
              </a:rPr>
              <a:t>Better Collaboration/Teamwork: Fair processes reduce confusion and resentment, making teams more willing to share information and work together effectiv</a:t>
            </a:r>
            <a:r>
              <a:rPr lang="en" sz="1300">
                <a:latin typeface="Times New Roman"/>
                <a:ea typeface="Times New Roman"/>
                <a:cs typeface="Times New Roman"/>
                <a:sym typeface="Times New Roman"/>
              </a:rPr>
              <a:t>ely.</a:t>
            </a:r>
            <a:endParaRPr sz="1300">
              <a:latin typeface="Times New Roman"/>
              <a:ea typeface="Times New Roman"/>
              <a:cs typeface="Times New Roman"/>
              <a:sym typeface="Times New Roman"/>
            </a:endParaRPr>
          </a:p>
          <a:p>
            <a:pPr indent="0" lvl="0" marL="457200" rtl="0" algn="l">
              <a:spcBef>
                <a:spcPts val="0"/>
              </a:spcBef>
              <a:spcAft>
                <a:spcPts val="0"/>
              </a:spcAft>
              <a:buNone/>
            </a:pPr>
            <a:r>
              <a:t/>
            </a:r>
            <a:endParaRPr sz="1300">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AutoNum type="arabicPeriod"/>
            </a:pPr>
            <a:r>
              <a:rPr lang="en" sz="1300">
                <a:latin typeface="Times New Roman"/>
                <a:ea typeface="Times New Roman"/>
                <a:cs typeface="Times New Roman"/>
                <a:sym typeface="Times New Roman"/>
              </a:rPr>
              <a:t>Increased Motivation/Engagement: Employees who feel respected and fairly treated put in more effort and show stronger commitment to their work.</a:t>
            </a:r>
            <a:endParaRPr sz="1300">
              <a:latin typeface="Times New Roman"/>
              <a:ea typeface="Times New Roman"/>
              <a:cs typeface="Times New Roman"/>
              <a:sym typeface="Times New Roman"/>
            </a:endParaRPr>
          </a:p>
          <a:p>
            <a:pPr indent="0" lvl="0" marL="457200" rtl="0" algn="l">
              <a:spcBef>
                <a:spcPts val="0"/>
              </a:spcBef>
              <a:spcAft>
                <a:spcPts val="0"/>
              </a:spcAft>
              <a:buNone/>
            </a:pPr>
            <a:r>
              <a:t/>
            </a:r>
            <a:endParaRPr sz="1300">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AutoNum type="arabicPeriod"/>
            </a:pPr>
            <a:r>
              <a:rPr lang="en" sz="1300">
                <a:latin typeface="Times New Roman"/>
                <a:ea typeface="Times New Roman"/>
                <a:cs typeface="Times New Roman"/>
                <a:sym typeface="Times New Roman"/>
              </a:rPr>
              <a:t>Reduced Conflict: Employees are less likely to leave or escalate problems when they believe the workplace is equitable.</a:t>
            </a:r>
            <a:endParaRPr sz="13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76"/>
          <p:cNvSpPr txBox="1"/>
          <p:nvPr>
            <p:ph type="title"/>
          </p:nvPr>
        </p:nvSpPr>
        <p:spPr>
          <a:xfrm>
            <a:off x="361975" y="337271"/>
            <a:ext cx="8111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Analysis of Concept 2 </a:t>
            </a:r>
            <a:endParaRPr sz="3000"/>
          </a:p>
        </p:txBody>
      </p:sp>
      <p:sp>
        <p:nvSpPr>
          <p:cNvPr id="599" name="Google Shape;599;p76"/>
          <p:cNvSpPr/>
          <p:nvPr/>
        </p:nvSpPr>
        <p:spPr>
          <a:xfrm>
            <a:off x="2682250" y="1257300"/>
            <a:ext cx="5867400" cy="352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t/>
            </a:r>
            <a:endParaRPr>
              <a:latin typeface="Times New Roman"/>
              <a:ea typeface="Times New Roman"/>
              <a:cs typeface="Times New Roman"/>
              <a:sym typeface="Times New Roman"/>
            </a:endParaRPr>
          </a:p>
          <a:p>
            <a:pPr indent="-298450" lvl="0" marL="457200" rtl="0" algn="l">
              <a:lnSpc>
                <a:spcPct val="115000"/>
              </a:lnSpc>
              <a:spcBef>
                <a:spcPts val="1200"/>
              </a:spcBef>
              <a:spcAft>
                <a:spcPts val="0"/>
              </a:spcAft>
              <a:buSzPts val="1100"/>
              <a:buChar char="●"/>
            </a:pPr>
            <a:r>
              <a:rPr lang="en">
                <a:latin typeface="Times New Roman"/>
                <a:ea typeface="Times New Roman"/>
                <a:cs typeface="Times New Roman"/>
                <a:sym typeface="Times New Roman"/>
              </a:rPr>
              <a:t>Organizational justice helps explain why HarbourVest’s communication and productivity issues </a:t>
            </a:r>
            <a:r>
              <a:rPr lang="en">
                <a:latin typeface="Times New Roman"/>
                <a:ea typeface="Times New Roman"/>
                <a:cs typeface="Times New Roman"/>
                <a:sym typeface="Times New Roman"/>
              </a:rPr>
              <a:t>persist </a:t>
            </a:r>
            <a:r>
              <a:rPr lang="en">
                <a:latin typeface="Times New Roman"/>
                <a:ea typeface="Times New Roman"/>
                <a:cs typeface="Times New Roman"/>
                <a:sym typeface="Times New Roman"/>
              </a:rPr>
              <a:t>despite strong leadership.</a:t>
            </a:r>
            <a:br>
              <a:rPr lang="en">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298450" lvl="0" marL="457200" rtl="0" algn="l">
              <a:lnSpc>
                <a:spcPct val="115000"/>
              </a:lnSpc>
              <a:spcBef>
                <a:spcPts val="0"/>
              </a:spcBef>
              <a:spcAft>
                <a:spcPts val="0"/>
              </a:spcAft>
              <a:buSzPts val="1100"/>
              <a:buChar char="●"/>
            </a:pPr>
            <a:r>
              <a:rPr lang="en">
                <a:latin typeface="Times New Roman"/>
                <a:ea typeface="Times New Roman"/>
                <a:cs typeface="Times New Roman"/>
                <a:sym typeface="Times New Roman"/>
              </a:rPr>
              <a:t>Fragmented data systems and unclear explanations for strategic or AI-related decisions reduce employees’ sense of fairness and transparency.</a:t>
            </a:r>
            <a:br>
              <a:rPr lang="en">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298450" lvl="0" marL="457200" rtl="0" algn="l">
              <a:lnSpc>
                <a:spcPct val="115000"/>
              </a:lnSpc>
              <a:spcBef>
                <a:spcPts val="0"/>
              </a:spcBef>
              <a:spcAft>
                <a:spcPts val="0"/>
              </a:spcAft>
              <a:buSzPts val="1100"/>
              <a:buChar char="●"/>
            </a:pPr>
            <a:r>
              <a:rPr lang="en">
                <a:latin typeface="Times New Roman"/>
                <a:ea typeface="Times New Roman"/>
                <a:cs typeface="Times New Roman"/>
                <a:sym typeface="Times New Roman"/>
              </a:rPr>
              <a:t>The gap between leadership intent and employee perception reveals breakdowns in procedural and informational justice.</a:t>
            </a:r>
            <a:br>
              <a:rPr lang="en">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298450" lvl="0" marL="457200" rtl="0" algn="l">
              <a:lnSpc>
                <a:spcPct val="115000"/>
              </a:lnSpc>
              <a:spcBef>
                <a:spcPts val="0"/>
              </a:spcBef>
              <a:spcAft>
                <a:spcPts val="0"/>
              </a:spcAft>
              <a:buSzPts val="1100"/>
              <a:buChar char="●"/>
            </a:pPr>
            <a:r>
              <a:rPr lang="en">
                <a:latin typeface="Times New Roman"/>
                <a:ea typeface="Times New Roman"/>
                <a:cs typeface="Times New Roman"/>
                <a:sym typeface="Times New Roman"/>
              </a:rPr>
              <a:t>These fairness issues slow collaboration, weaken trust, and directly contribute to the output problem of delayed communication and reduced productivity. </a:t>
            </a:r>
            <a:br>
              <a:rPr lang="en">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0" lvl="0" marL="0" rtl="0" algn="ctr">
              <a:spcBef>
                <a:spcPts val="1200"/>
              </a:spcBef>
              <a:spcAft>
                <a:spcPts val="0"/>
              </a:spcAft>
              <a:buNone/>
            </a:pPr>
            <a:r>
              <a:t/>
            </a:r>
            <a:endParaRPr>
              <a:latin typeface="Times New Roman"/>
              <a:ea typeface="Times New Roman"/>
              <a:cs typeface="Times New Roman"/>
              <a:sym typeface="Times New Roman"/>
            </a:endParaRPr>
          </a:p>
        </p:txBody>
      </p:sp>
      <p:pic>
        <p:nvPicPr>
          <p:cNvPr id="600" name="Google Shape;600;p76" title="image-6.png"/>
          <p:cNvPicPr preferRelativeResize="0"/>
          <p:nvPr/>
        </p:nvPicPr>
        <p:blipFill>
          <a:blip r:embed="rId3">
            <a:alphaModFix/>
          </a:blip>
          <a:stretch>
            <a:fillRect/>
          </a:stretch>
        </p:blipFill>
        <p:spPr>
          <a:xfrm>
            <a:off x="190700" y="1542584"/>
            <a:ext cx="2377450" cy="205832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77"/>
          <p:cNvSpPr txBox="1"/>
          <p:nvPr>
            <p:ph type="title"/>
          </p:nvPr>
        </p:nvSpPr>
        <p:spPr>
          <a:xfrm>
            <a:off x="361975" y="337271"/>
            <a:ext cx="8111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Supporting Evidence</a:t>
            </a:r>
            <a:endParaRPr sz="3000"/>
          </a:p>
        </p:txBody>
      </p:sp>
      <p:sp>
        <p:nvSpPr>
          <p:cNvPr id="606" name="Google Shape;606;p77"/>
          <p:cNvSpPr/>
          <p:nvPr/>
        </p:nvSpPr>
        <p:spPr>
          <a:xfrm>
            <a:off x="2682250" y="856300"/>
            <a:ext cx="5867400" cy="408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a:latin typeface="Times New Roman"/>
                <a:ea typeface="Times New Roman"/>
                <a:cs typeface="Times New Roman"/>
                <a:sym typeface="Times New Roman"/>
              </a:rPr>
              <a:t>Interview with Suida Firzone: </a:t>
            </a:r>
            <a:r>
              <a:rPr lang="en" sz="1600">
                <a:latin typeface="Times New Roman"/>
                <a:ea typeface="Times New Roman"/>
                <a:cs typeface="Times New Roman"/>
                <a:sym typeface="Times New Roman"/>
              </a:rPr>
              <a:t>Our interviews showed several areas within HarbourVest where perceptions of fairness and company transparency are challenged.  For instance the firms “fragmented data systems” as Suaida explained, reflect an organizational justice issue.  She mentioned that “systems are not compatible with older data tools” when speaking on some struggles that she faces in her role.</a:t>
            </a:r>
            <a:endParaRPr sz="1600">
              <a:latin typeface="Times New Roman"/>
              <a:ea typeface="Times New Roman"/>
              <a:cs typeface="Times New Roman"/>
              <a:sym typeface="Times New Roman"/>
            </a:endParaRPr>
          </a:p>
          <a:p>
            <a:pPr indent="0" lvl="0" marL="0" rtl="0" algn="l">
              <a:spcBef>
                <a:spcPts val="0"/>
              </a:spcBef>
              <a:spcAft>
                <a:spcPts val="0"/>
              </a:spcAft>
              <a:buNone/>
            </a:pPr>
            <a:r>
              <a:t/>
            </a:r>
            <a:endParaRPr sz="1600">
              <a:latin typeface="Times New Roman"/>
              <a:ea typeface="Times New Roman"/>
              <a:cs typeface="Times New Roman"/>
              <a:sym typeface="Times New Roman"/>
            </a:endParaRPr>
          </a:p>
          <a:p>
            <a:pPr indent="0" lvl="0" marL="0" rtl="0" algn="l">
              <a:spcBef>
                <a:spcPts val="0"/>
              </a:spcBef>
              <a:spcAft>
                <a:spcPts val="0"/>
              </a:spcAft>
              <a:buNone/>
            </a:pPr>
            <a:r>
              <a:t/>
            </a:r>
            <a:endParaRPr sz="1600">
              <a:latin typeface="Times New Roman"/>
              <a:ea typeface="Times New Roman"/>
              <a:cs typeface="Times New Roman"/>
              <a:sym typeface="Times New Roman"/>
            </a:endParaRPr>
          </a:p>
          <a:p>
            <a:pPr indent="0" lvl="0" marL="0" rtl="0" algn="l">
              <a:spcBef>
                <a:spcPts val="0"/>
              </a:spcBef>
              <a:spcAft>
                <a:spcPts val="0"/>
              </a:spcAft>
              <a:buNone/>
            </a:pPr>
            <a:r>
              <a:t/>
            </a:r>
            <a:endParaRPr sz="1600">
              <a:latin typeface="Times New Roman"/>
              <a:ea typeface="Times New Roman"/>
              <a:cs typeface="Times New Roman"/>
              <a:sym typeface="Times New Roman"/>
            </a:endParaRPr>
          </a:p>
          <a:p>
            <a:pPr indent="0" lvl="0" marL="0" rtl="0" algn="l">
              <a:spcBef>
                <a:spcPts val="0"/>
              </a:spcBef>
              <a:spcAft>
                <a:spcPts val="0"/>
              </a:spcAft>
              <a:buNone/>
            </a:pPr>
            <a:r>
              <a:rPr lang="en" sz="1600">
                <a:latin typeface="Times New Roman"/>
                <a:ea typeface="Times New Roman"/>
                <a:cs typeface="Times New Roman"/>
                <a:sym typeface="Times New Roman"/>
              </a:rPr>
              <a:t>Using both the interviews with Analia and Suida, has shown us the disparities in what is intended to be communicated, and what is actually perceived.</a:t>
            </a:r>
            <a:endParaRPr sz="1600">
              <a:latin typeface="Times New Roman"/>
              <a:ea typeface="Times New Roman"/>
              <a:cs typeface="Times New Roman"/>
              <a:sym typeface="Times New Roman"/>
            </a:endParaRPr>
          </a:p>
        </p:txBody>
      </p:sp>
      <p:pic>
        <p:nvPicPr>
          <p:cNvPr id="607" name="Google Shape;607;p77" title="Blog_Blog-Procedural-Justice-750x422.png"/>
          <p:cNvPicPr preferRelativeResize="0"/>
          <p:nvPr/>
        </p:nvPicPr>
        <p:blipFill>
          <a:blip r:embed="rId3">
            <a:alphaModFix/>
          </a:blip>
          <a:stretch>
            <a:fillRect/>
          </a:stretch>
        </p:blipFill>
        <p:spPr>
          <a:xfrm>
            <a:off x="172175" y="2363325"/>
            <a:ext cx="2329176" cy="13105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78"/>
          <p:cNvSpPr txBox="1"/>
          <p:nvPr>
            <p:ph type="title"/>
          </p:nvPr>
        </p:nvSpPr>
        <p:spPr>
          <a:xfrm>
            <a:off x="361975" y="337271"/>
            <a:ext cx="8111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Recommendation #1: Incorporating EI  </a:t>
            </a:r>
            <a:endParaRPr sz="3000"/>
          </a:p>
        </p:txBody>
      </p:sp>
      <p:sp>
        <p:nvSpPr>
          <p:cNvPr id="613" name="Google Shape;613;p78"/>
          <p:cNvSpPr/>
          <p:nvPr/>
        </p:nvSpPr>
        <p:spPr>
          <a:xfrm>
            <a:off x="1752610" y="1257300"/>
            <a:ext cx="5867400" cy="312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 sz="1100">
                <a:solidFill>
                  <a:schemeClr val="lt1"/>
                </a:solidFill>
                <a:latin typeface="Times New Roman"/>
                <a:ea typeface="Times New Roman"/>
                <a:cs typeface="Times New Roman"/>
                <a:sym typeface="Times New Roman"/>
              </a:rPr>
              <a:t>HarbourVest should implement </a:t>
            </a:r>
            <a:r>
              <a:rPr b="1" lang="en" sz="1100">
                <a:solidFill>
                  <a:schemeClr val="lt1"/>
                </a:solidFill>
                <a:latin typeface="Times New Roman"/>
                <a:ea typeface="Times New Roman"/>
                <a:cs typeface="Times New Roman"/>
                <a:sym typeface="Times New Roman"/>
              </a:rPr>
              <a:t>Emotional Intelligence (EI)-based leadership practices</a:t>
            </a:r>
            <a:r>
              <a:rPr lang="en" sz="1100">
                <a:solidFill>
                  <a:schemeClr val="lt1"/>
                </a:solidFill>
                <a:latin typeface="Times New Roman"/>
                <a:ea typeface="Times New Roman"/>
                <a:cs typeface="Times New Roman"/>
                <a:sym typeface="Times New Roman"/>
              </a:rPr>
              <a:t> across all offices to improve communication and collaboration in its globally distributed teams. This includes:</a:t>
            </a:r>
            <a:endParaRPr sz="1100">
              <a:solidFill>
                <a:schemeClr val="lt1"/>
              </a:solidFill>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chemeClr val="lt1"/>
              </a:buClr>
              <a:buSzPts val="1100"/>
              <a:buAutoNum type="arabicPeriod"/>
            </a:pPr>
            <a:r>
              <a:rPr b="1" lang="en" sz="1100">
                <a:solidFill>
                  <a:schemeClr val="lt1"/>
                </a:solidFill>
                <a:latin typeface="Times New Roman"/>
                <a:ea typeface="Times New Roman"/>
                <a:cs typeface="Times New Roman"/>
                <a:sym typeface="Times New Roman"/>
              </a:rPr>
              <a:t>EI Training for Managers:</a:t>
            </a:r>
            <a:r>
              <a:rPr lang="en" sz="1100">
                <a:solidFill>
                  <a:schemeClr val="lt1"/>
                </a:solidFill>
                <a:latin typeface="Times New Roman"/>
                <a:ea typeface="Times New Roman"/>
                <a:cs typeface="Times New Roman"/>
                <a:sym typeface="Times New Roman"/>
              </a:rPr>
              <a:t> Provide structured training focused on empathy, active listening, cultural awareness, and emotion-aware communication to help leaders better understand and respond to employees’ needs.</a:t>
            </a:r>
            <a:endParaRPr sz="1100">
              <a:solidFill>
                <a:schemeClr val="lt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lt1"/>
              </a:buClr>
              <a:buSzPts val="1100"/>
              <a:buAutoNum type="arabicPeriod"/>
            </a:pPr>
            <a:r>
              <a:rPr b="1" lang="en" sz="1100">
                <a:solidFill>
                  <a:schemeClr val="lt1"/>
                </a:solidFill>
                <a:latin typeface="Times New Roman"/>
                <a:ea typeface="Times New Roman"/>
                <a:cs typeface="Times New Roman"/>
                <a:sym typeface="Times New Roman"/>
              </a:rPr>
              <a:t>Regular Team Check-Ins:</a:t>
            </a:r>
            <a:r>
              <a:rPr lang="en" sz="1100">
                <a:solidFill>
                  <a:schemeClr val="lt1"/>
                </a:solidFill>
                <a:latin typeface="Times New Roman"/>
                <a:ea typeface="Times New Roman"/>
                <a:cs typeface="Times New Roman"/>
                <a:sym typeface="Times New Roman"/>
              </a:rPr>
              <a:t> Conduct </a:t>
            </a:r>
            <a:r>
              <a:rPr b="1" lang="en" sz="1100">
                <a:solidFill>
                  <a:schemeClr val="lt1"/>
                </a:solidFill>
                <a:latin typeface="Times New Roman"/>
                <a:ea typeface="Times New Roman"/>
                <a:cs typeface="Times New Roman"/>
                <a:sym typeface="Times New Roman"/>
              </a:rPr>
              <a:t>monthly or quarterly check-ins</a:t>
            </a:r>
            <a:r>
              <a:rPr lang="en" sz="1100">
                <a:solidFill>
                  <a:schemeClr val="lt1"/>
                </a:solidFill>
                <a:latin typeface="Times New Roman"/>
                <a:ea typeface="Times New Roman"/>
                <a:cs typeface="Times New Roman"/>
                <a:sym typeface="Times New Roman"/>
              </a:rPr>
              <a:t> with teams across all offices. These check-ins should cover not only project updates but also employee well-being, clarification of expectations, and feedback on cross-office communication challenges.</a:t>
            </a:r>
            <a:endParaRPr sz="1100">
              <a:solidFill>
                <a:schemeClr val="lt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lt1"/>
              </a:buClr>
              <a:buSzPts val="1100"/>
              <a:buAutoNum type="arabicPeriod"/>
            </a:pPr>
            <a:r>
              <a:rPr b="1" lang="en" sz="1100">
                <a:solidFill>
                  <a:schemeClr val="lt1"/>
                </a:solidFill>
                <a:latin typeface="Times New Roman"/>
                <a:ea typeface="Times New Roman"/>
                <a:cs typeface="Times New Roman"/>
                <a:sym typeface="Times New Roman"/>
              </a:rPr>
              <a:t>Application in Virtual Settings:</a:t>
            </a:r>
            <a:r>
              <a:rPr lang="en" sz="1100">
                <a:solidFill>
                  <a:schemeClr val="lt1"/>
                </a:solidFill>
                <a:latin typeface="Times New Roman"/>
                <a:ea typeface="Times New Roman"/>
                <a:cs typeface="Times New Roman"/>
                <a:sym typeface="Times New Roman"/>
              </a:rPr>
              <a:t> Encourage leaders to apply EI skills in Zoom or other virtual meetings by actively soliciting input, noticing non-verbal cues, and fostering open dialogue among geographically dispersed teams.</a:t>
            </a:r>
            <a:endParaRPr sz="11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79"/>
          <p:cNvSpPr txBox="1"/>
          <p:nvPr>
            <p:ph type="title"/>
          </p:nvPr>
        </p:nvSpPr>
        <p:spPr>
          <a:xfrm>
            <a:off x="361975" y="337271"/>
            <a:ext cx="8111400" cy="37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700"/>
              <a:t>Best Practices and Potential Downfalls rec 1 </a:t>
            </a:r>
            <a:endParaRPr sz="2700"/>
          </a:p>
        </p:txBody>
      </p:sp>
      <p:sp>
        <p:nvSpPr>
          <p:cNvPr id="619" name="Google Shape;619;p79"/>
          <p:cNvSpPr/>
          <p:nvPr/>
        </p:nvSpPr>
        <p:spPr>
          <a:xfrm>
            <a:off x="274325" y="868649"/>
            <a:ext cx="5082600" cy="253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0"/>
              </a:spcAft>
              <a:buNone/>
            </a:pPr>
            <a:r>
              <a:rPr b="1" lang="en">
                <a:solidFill>
                  <a:schemeClr val="lt1"/>
                </a:solidFill>
                <a:latin typeface="Times New Roman"/>
                <a:ea typeface="Times New Roman"/>
                <a:cs typeface="Times New Roman"/>
                <a:sym typeface="Times New Roman"/>
              </a:rPr>
              <a:t>Best Practices: </a:t>
            </a:r>
            <a:endParaRPr b="1">
              <a:solidFill>
                <a:schemeClr val="lt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lt1"/>
                </a:solidFill>
                <a:latin typeface="Times New Roman"/>
                <a:ea typeface="Times New Roman"/>
                <a:cs typeface="Times New Roman"/>
                <a:sym typeface="Times New Roman"/>
              </a:rPr>
              <a:t>Microsoft – Global Product Team Check-Ins</a:t>
            </a:r>
            <a:endParaRPr b="1" sz="1300">
              <a:solidFill>
                <a:schemeClr val="lt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lt1"/>
              </a:buClr>
              <a:buSzPts val="1300"/>
              <a:buChar char="●"/>
            </a:pPr>
            <a:r>
              <a:rPr lang="en" sz="1300">
                <a:solidFill>
                  <a:schemeClr val="lt1"/>
                </a:solidFill>
                <a:latin typeface="Times New Roman"/>
                <a:ea typeface="Times New Roman"/>
                <a:cs typeface="Times New Roman"/>
                <a:sym typeface="Times New Roman"/>
              </a:rPr>
              <a:t>Microsoft’s distributed teams hold regular </a:t>
            </a:r>
            <a:r>
              <a:rPr b="1" lang="en" sz="1300">
                <a:solidFill>
                  <a:schemeClr val="lt1"/>
                </a:solidFill>
                <a:latin typeface="Times New Roman"/>
                <a:ea typeface="Times New Roman"/>
                <a:cs typeface="Times New Roman"/>
                <a:sym typeface="Times New Roman"/>
              </a:rPr>
              <a:t>cross-office check-ins</a:t>
            </a:r>
            <a:r>
              <a:rPr lang="en" sz="1300">
                <a:solidFill>
                  <a:schemeClr val="lt1"/>
                </a:solidFill>
                <a:latin typeface="Times New Roman"/>
                <a:ea typeface="Times New Roman"/>
                <a:cs typeface="Times New Roman"/>
                <a:sym typeface="Times New Roman"/>
              </a:rPr>
              <a:t> to clarify project goals, deadlines, and concerns.</a:t>
            </a:r>
            <a:endParaRPr sz="1300">
              <a:solidFill>
                <a:schemeClr val="lt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lt1"/>
              </a:buClr>
              <a:buSzPts val="1300"/>
              <a:buFont typeface="Times New Roman"/>
              <a:buChar char="●"/>
            </a:pPr>
            <a:r>
              <a:rPr lang="en" sz="1300">
                <a:solidFill>
                  <a:schemeClr val="lt1"/>
                </a:solidFill>
                <a:latin typeface="Times New Roman"/>
                <a:ea typeface="Times New Roman"/>
                <a:cs typeface="Times New Roman"/>
                <a:sym typeface="Times New Roman"/>
              </a:rPr>
              <a:t>Managers are trained to actively listen, acknowledge feedback, and address miscommunication quickly.</a:t>
            </a:r>
            <a:endParaRPr sz="1300">
              <a:solidFill>
                <a:schemeClr val="lt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lt1"/>
              </a:buClr>
              <a:buSzPts val="1300"/>
              <a:buFont typeface="Times New Roman"/>
              <a:buChar char="●"/>
            </a:pPr>
            <a:r>
              <a:rPr lang="en" sz="1300">
                <a:solidFill>
                  <a:schemeClr val="lt1"/>
                </a:solidFill>
                <a:latin typeface="Times New Roman"/>
                <a:ea typeface="Times New Roman"/>
                <a:cs typeface="Times New Roman"/>
                <a:sym typeface="Times New Roman"/>
              </a:rPr>
              <a:t>Outcome: improves cohesion, reduces errors, and strengthens collaboration among geographically dispersed teams.</a:t>
            </a:r>
            <a:endParaRPr sz="1300">
              <a:solidFill>
                <a:schemeClr val="lt1"/>
              </a:solidFill>
              <a:latin typeface="Times New Roman"/>
              <a:ea typeface="Times New Roman"/>
              <a:cs typeface="Times New Roman"/>
              <a:sym typeface="Times New Roman"/>
            </a:endParaRPr>
          </a:p>
        </p:txBody>
      </p:sp>
      <p:sp>
        <p:nvSpPr>
          <p:cNvPr id="620" name="Google Shape;620;p79"/>
          <p:cNvSpPr/>
          <p:nvPr/>
        </p:nvSpPr>
        <p:spPr>
          <a:xfrm>
            <a:off x="5402565" y="868650"/>
            <a:ext cx="3391200" cy="399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Times New Roman"/>
                <a:ea typeface="Times New Roman"/>
                <a:cs typeface="Times New Roman"/>
                <a:sym typeface="Times New Roman"/>
              </a:rPr>
              <a:t>Potential Downfalls: </a:t>
            </a:r>
            <a:endParaRPr>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b="1" lang="en" sz="1100">
                <a:solidFill>
                  <a:schemeClr val="lt1"/>
                </a:solidFill>
                <a:latin typeface="Times New Roman"/>
                <a:ea typeface="Times New Roman"/>
                <a:cs typeface="Times New Roman"/>
                <a:sym typeface="Times New Roman"/>
              </a:rPr>
              <a:t>May Not Work for Everyone</a:t>
            </a:r>
            <a:endParaRPr b="1" sz="1100">
              <a:solidFill>
                <a:schemeClr val="lt1"/>
              </a:solidFill>
              <a:latin typeface="Times New Roman"/>
              <a:ea typeface="Times New Roman"/>
              <a:cs typeface="Times New Roman"/>
              <a:sym typeface="Times New Roman"/>
            </a:endParaRPr>
          </a:p>
          <a:p>
            <a:pPr indent="-298450" lvl="0" marL="457200" rtl="0" algn="l">
              <a:spcBef>
                <a:spcPts val="0"/>
              </a:spcBef>
              <a:spcAft>
                <a:spcPts val="0"/>
              </a:spcAft>
              <a:buClr>
                <a:schemeClr val="lt1"/>
              </a:buClr>
              <a:buSzPts val="1100"/>
              <a:buFont typeface="Times New Roman"/>
              <a:buAutoNum type="arabicPeriod"/>
            </a:pPr>
            <a:r>
              <a:rPr lang="en" sz="1100">
                <a:solidFill>
                  <a:schemeClr val="lt1"/>
                </a:solidFill>
                <a:latin typeface="Times New Roman"/>
                <a:ea typeface="Times New Roman"/>
                <a:cs typeface="Times New Roman"/>
                <a:sym typeface="Times New Roman"/>
              </a:rPr>
              <a:t>Some managers or employees may resist EI training or perceive check-ins as “non-essential,” reducing participation or engagement.</a:t>
            </a:r>
            <a:endParaRPr sz="1100">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100">
                <a:solidFill>
                  <a:schemeClr val="lt1"/>
                </a:solidFill>
                <a:latin typeface="Times New Roman"/>
                <a:ea typeface="Times New Roman"/>
                <a:cs typeface="Times New Roman"/>
                <a:sym typeface="Times New Roman"/>
              </a:rPr>
              <a:t>Time and Resource Costs</a:t>
            </a:r>
            <a:endParaRPr b="1" sz="1100">
              <a:solidFill>
                <a:schemeClr val="lt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lt1"/>
              </a:buClr>
              <a:buSzPts val="1100"/>
              <a:buFont typeface="Times New Roman"/>
              <a:buAutoNum type="arabicPeriod"/>
            </a:pPr>
            <a:r>
              <a:rPr lang="en" sz="1100">
                <a:solidFill>
                  <a:schemeClr val="lt1"/>
                </a:solidFill>
                <a:latin typeface="Times New Roman"/>
                <a:ea typeface="Times New Roman"/>
                <a:cs typeface="Times New Roman"/>
                <a:sym typeface="Times New Roman"/>
              </a:rPr>
              <a:t>Monthly or quarterly check-ins require time away from revenue-generating or core work. Training programs for EI also require investment in resources and planning.</a:t>
            </a:r>
            <a:endParaRPr sz="1100">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100">
                <a:solidFill>
                  <a:schemeClr val="lt1"/>
                </a:solidFill>
                <a:latin typeface="Times New Roman"/>
                <a:ea typeface="Times New Roman"/>
                <a:cs typeface="Times New Roman"/>
                <a:sym typeface="Times New Roman"/>
              </a:rPr>
              <a:t>Unintended Consequences</a:t>
            </a:r>
            <a:endParaRPr b="1" sz="1100">
              <a:solidFill>
                <a:schemeClr val="lt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lt1"/>
              </a:buClr>
              <a:buSzPts val="1100"/>
              <a:buFont typeface="Times New Roman"/>
              <a:buAutoNum type="arabicPeriod"/>
            </a:pPr>
            <a:r>
              <a:rPr lang="en" sz="1100">
                <a:solidFill>
                  <a:schemeClr val="lt1"/>
                </a:solidFill>
                <a:latin typeface="Times New Roman"/>
                <a:ea typeface="Times New Roman"/>
                <a:cs typeface="Times New Roman"/>
                <a:sym typeface="Times New Roman"/>
              </a:rPr>
              <a:t>Overemphasis on emotional check-ins could slow decision-making or reduce accountability if not balanced with performance expectations.</a:t>
            </a:r>
            <a:endParaRPr sz="1100">
              <a:solidFill>
                <a:schemeClr val="lt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lt1"/>
              </a:buClr>
              <a:buSzPts val="1100"/>
              <a:buFont typeface="Times New Roman"/>
              <a:buAutoNum type="arabicPeriod"/>
            </a:pPr>
            <a:r>
              <a:rPr lang="en" sz="1100">
                <a:solidFill>
                  <a:schemeClr val="lt1"/>
                </a:solidFill>
                <a:latin typeface="Times New Roman"/>
                <a:ea typeface="Times New Roman"/>
                <a:cs typeface="Times New Roman"/>
                <a:sym typeface="Times New Roman"/>
              </a:rPr>
              <a:t>Poorly executed check-ins may feel like “lip service,” which can decrease trust rather than increase it.</a:t>
            </a:r>
            <a:endParaRPr>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80"/>
          <p:cNvSpPr txBox="1"/>
          <p:nvPr>
            <p:ph type="title"/>
          </p:nvPr>
        </p:nvSpPr>
        <p:spPr>
          <a:xfrm>
            <a:off x="361975" y="337271"/>
            <a:ext cx="8111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Recommendation #2</a:t>
            </a:r>
            <a:endParaRPr sz="3000"/>
          </a:p>
        </p:txBody>
      </p:sp>
      <p:sp>
        <p:nvSpPr>
          <p:cNvPr id="626" name="Google Shape;626;p80"/>
          <p:cNvSpPr/>
          <p:nvPr/>
        </p:nvSpPr>
        <p:spPr>
          <a:xfrm>
            <a:off x="3420400" y="848675"/>
            <a:ext cx="5572200" cy="418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1150" lvl="0" marL="457200" rtl="0" algn="l">
              <a:lnSpc>
                <a:spcPct val="115000"/>
              </a:lnSpc>
              <a:spcBef>
                <a:spcPts val="1200"/>
              </a:spcBef>
              <a:spcAft>
                <a:spcPts val="0"/>
              </a:spcAft>
              <a:buSzPts val="1300"/>
              <a:buChar char="●"/>
            </a:pPr>
            <a:r>
              <a:rPr lang="en" sz="1300"/>
              <a:t>Create a unified, leadership-run </a:t>
            </a:r>
            <a:r>
              <a:rPr b="1" lang="en" sz="1300"/>
              <a:t>data and decision portal</a:t>
            </a:r>
            <a:r>
              <a:rPr lang="en" sz="1300"/>
              <a:t> accessible to all HarbourVest offices.</a:t>
            </a:r>
            <a:br>
              <a:rPr lang="en" sz="1300"/>
            </a:br>
            <a:endParaRPr sz="1300"/>
          </a:p>
          <a:p>
            <a:pPr indent="-311150" lvl="0" marL="457200" rtl="0" algn="l">
              <a:lnSpc>
                <a:spcPct val="115000"/>
              </a:lnSpc>
              <a:spcBef>
                <a:spcPts val="0"/>
              </a:spcBef>
              <a:spcAft>
                <a:spcPts val="0"/>
              </a:spcAft>
              <a:buSzPts val="1300"/>
              <a:buChar char="●"/>
            </a:pPr>
            <a:r>
              <a:rPr lang="en" sz="1300"/>
              <a:t>Provides real-time updates on </a:t>
            </a:r>
            <a:r>
              <a:rPr b="1" lang="en" sz="1300"/>
              <a:t>major decisions, priorities, resource allocations, and tech rollouts</a:t>
            </a:r>
            <a:r>
              <a:rPr lang="en" sz="1300"/>
              <a:t>.</a:t>
            </a:r>
            <a:br>
              <a:rPr lang="en" sz="1300"/>
            </a:br>
            <a:endParaRPr sz="1300"/>
          </a:p>
          <a:p>
            <a:pPr indent="-311150" lvl="0" marL="457200" rtl="0" algn="l">
              <a:lnSpc>
                <a:spcPct val="115000"/>
              </a:lnSpc>
              <a:spcBef>
                <a:spcPts val="0"/>
              </a:spcBef>
              <a:spcAft>
                <a:spcPts val="0"/>
              </a:spcAft>
              <a:buSzPts val="1300"/>
              <a:buChar char="●"/>
            </a:pPr>
            <a:r>
              <a:rPr lang="en" sz="1300"/>
              <a:t>Includes a </a:t>
            </a:r>
            <a:r>
              <a:rPr b="1" lang="en" sz="1300"/>
              <a:t>“Why This Decision Was Made”</a:t>
            </a:r>
            <a:r>
              <a:rPr lang="en" sz="1300"/>
              <a:t> section to clarify executive reasoning.</a:t>
            </a:r>
            <a:br>
              <a:rPr lang="en" sz="1300"/>
            </a:br>
            <a:endParaRPr sz="1300"/>
          </a:p>
          <a:p>
            <a:pPr indent="-311150" lvl="0" marL="457200" rtl="0" algn="l">
              <a:lnSpc>
                <a:spcPct val="115000"/>
              </a:lnSpc>
              <a:spcBef>
                <a:spcPts val="0"/>
              </a:spcBef>
              <a:spcAft>
                <a:spcPts val="0"/>
              </a:spcAft>
              <a:buSzPts val="1300"/>
              <a:buChar char="●"/>
            </a:pPr>
            <a:r>
              <a:rPr lang="en" sz="1300"/>
              <a:t>Adds an </a:t>
            </a:r>
            <a:r>
              <a:rPr b="1" lang="en" sz="1300"/>
              <a:t>anonymous employee feedback tool</a:t>
            </a:r>
            <a:r>
              <a:rPr lang="en" sz="1300"/>
              <a:t> to increase voice and psychological safety.</a:t>
            </a:r>
            <a:br>
              <a:rPr lang="en" sz="1300"/>
            </a:br>
            <a:endParaRPr sz="1300"/>
          </a:p>
          <a:p>
            <a:pPr indent="-311150" lvl="0" marL="457200" rtl="0" algn="l">
              <a:lnSpc>
                <a:spcPct val="115000"/>
              </a:lnSpc>
              <a:spcBef>
                <a:spcPts val="0"/>
              </a:spcBef>
              <a:spcAft>
                <a:spcPts val="0"/>
              </a:spcAft>
              <a:buSzPts val="1300"/>
              <a:buChar char="●"/>
            </a:pPr>
            <a:r>
              <a:rPr lang="en" sz="1300"/>
              <a:t>Reduces confusion and improves fairness by giving every region equal access to information.</a:t>
            </a:r>
            <a:br>
              <a:rPr lang="en" sz="1300"/>
            </a:br>
            <a:endParaRPr sz="1300"/>
          </a:p>
        </p:txBody>
      </p:sp>
      <p:pic>
        <p:nvPicPr>
          <p:cNvPr id="627" name="Google Shape;627;p80"/>
          <p:cNvPicPr preferRelativeResize="0"/>
          <p:nvPr/>
        </p:nvPicPr>
        <p:blipFill>
          <a:blip r:embed="rId3">
            <a:alphaModFix/>
          </a:blip>
          <a:stretch>
            <a:fillRect/>
          </a:stretch>
        </p:blipFill>
        <p:spPr>
          <a:xfrm>
            <a:off x="152400" y="1371134"/>
            <a:ext cx="3115603" cy="313859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81"/>
          <p:cNvSpPr txBox="1"/>
          <p:nvPr>
            <p:ph type="title"/>
          </p:nvPr>
        </p:nvSpPr>
        <p:spPr>
          <a:xfrm>
            <a:off x="361975" y="337271"/>
            <a:ext cx="8111400" cy="37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700"/>
              <a:t>B</a:t>
            </a:r>
            <a:r>
              <a:rPr lang="en" sz="2700"/>
              <a:t>est Practices and Potential Downfalls: Rec 2 </a:t>
            </a:r>
            <a:endParaRPr sz="2700"/>
          </a:p>
        </p:txBody>
      </p:sp>
      <p:sp>
        <p:nvSpPr>
          <p:cNvPr id="633" name="Google Shape;633;p81"/>
          <p:cNvSpPr/>
          <p:nvPr/>
        </p:nvSpPr>
        <p:spPr>
          <a:xfrm>
            <a:off x="176400" y="762900"/>
            <a:ext cx="1941000" cy="424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000"/>
              <a:t>Best Practice Examples:</a:t>
            </a:r>
            <a:endParaRPr b="1" sz="1000"/>
          </a:p>
          <a:p>
            <a:pPr indent="0" lvl="0" marL="0" rtl="0" algn="l">
              <a:lnSpc>
                <a:spcPct val="115000"/>
              </a:lnSpc>
              <a:spcBef>
                <a:spcPts val="1200"/>
              </a:spcBef>
              <a:spcAft>
                <a:spcPts val="0"/>
              </a:spcAft>
              <a:buNone/>
            </a:pPr>
            <a:r>
              <a:rPr b="1" lang="en" sz="1000"/>
              <a:t>Deloitte Knowledge Platform:</a:t>
            </a:r>
            <a:r>
              <a:rPr lang="en" sz="1000"/>
              <a:t> Unified portal improved coordination across dozens of global offices.</a:t>
            </a:r>
            <a:br>
              <a:rPr lang="en" sz="1000"/>
            </a:br>
            <a:endParaRPr sz="1000"/>
          </a:p>
          <a:p>
            <a:pPr indent="0" lvl="0" marL="0" rtl="0" algn="l">
              <a:lnSpc>
                <a:spcPct val="115000"/>
              </a:lnSpc>
              <a:spcBef>
                <a:spcPts val="1200"/>
              </a:spcBef>
              <a:spcAft>
                <a:spcPts val="1200"/>
              </a:spcAft>
              <a:buNone/>
            </a:pPr>
            <a:r>
              <a:rPr b="1" lang="en" sz="1000"/>
              <a:t>JPMorgan Change-Communication Memos:</a:t>
            </a:r>
            <a:r>
              <a:rPr lang="en" sz="1000"/>
              <a:t> Internal summaries used to explain workflow or technology updates.</a:t>
            </a:r>
            <a:endParaRPr sz="1000"/>
          </a:p>
        </p:txBody>
      </p:sp>
      <p:sp>
        <p:nvSpPr>
          <p:cNvPr id="634" name="Google Shape;634;p81"/>
          <p:cNvSpPr/>
          <p:nvPr/>
        </p:nvSpPr>
        <p:spPr>
          <a:xfrm>
            <a:off x="2117400" y="762900"/>
            <a:ext cx="2293800" cy="424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000"/>
              <a:t>Potential Downfalls:</a:t>
            </a:r>
            <a:endParaRPr b="1" sz="1000"/>
          </a:p>
          <a:p>
            <a:pPr indent="0" lvl="0" marL="0" rtl="0" algn="l">
              <a:lnSpc>
                <a:spcPct val="115000"/>
              </a:lnSpc>
              <a:spcBef>
                <a:spcPts val="1200"/>
              </a:spcBef>
              <a:spcAft>
                <a:spcPts val="0"/>
              </a:spcAft>
              <a:buNone/>
            </a:pPr>
            <a:r>
              <a:rPr lang="en" sz="1000"/>
              <a:t>Some managers/employees may </a:t>
            </a:r>
            <a:r>
              <a:rPr b="1" lang="en" sz="1000"/>
              <a:t>resist system changes</a:t>
            </a:r>
            <a:r>
              <a:rPr lang="en" sz="1000"/>
              <a:t> or prefer siloed workflows.</a:t>
            </a:r>
            <a:br>
              <a:rPr lang="en" sz="1000"/>
            </a:br>
            <a:endParaRPr sz="1000"/>
          </a:p>
          <a:p>
            <a:pPr indent="0" lvl="0" marL="0" rtl="0" algn="l">
              <a:lnSpc>
                <a:spcPct val="115000"/>
              </a:lnSpc>
              <a:spcBef>
                <a:spcPts val="1200"/>
              </a:spcBef>
              <a:spcAft>
                <a:spcPts val="0"/>
              </a:spcAft>
              <a:buNone/>
            </a:pPr>
            <a:r>
              <a:rPr lang="en" sz="1000"/>
              <a:t>Requires </a:t>
            </a:r>
            <a:r>
              <a:rPr b="1" lang="en" sz="1000"/>
              <a:t>financial investment</a:t>
            </a:r>
            <a:r>
              <a:rPr lang="en" sz="1000"/>
              <a:t>: new software, IT integration, and company-wide training.</a:t>
            </a:r>
            <a:br>
              <a:rPr lang="en" sz="1000"/>
            </a:br>
            <a:endParaRPr sz="1000"/>
          </a:p>
          <a:p>
            <a:pPr indent="0" lvl="0" marL="0" rtl="0" algn="l">
              <a:lnSpc>
                <a:spcPct val="115000"/>
              </a:lnSpc>
              <a:spcBef>
                <a:spcPts val="1200"/>
              </a:spcBef>
              <a:spcAft>
                <a:spcPts val="1200"/>
              </a:spcAft>
              <a:buNone/>
            </a:pPr>
            <a:r>
              <a:rPr lang="en" sz="1000"/>
              <a:t>Greater transparency may expose </a:t>
            </a:r>
            <a:r>
              <a:rPr b="1" lang="en" sz="1000"/>
              <a:t>workload imbalances or performance disparities</a:t>
            </a:r>
            <a:r>
              <a:rPr lang="en" sz="1000"/>
              <a:t>, creating tension.</a:t>
            </a:r>
            <a:endParaRPr sz="1000"/>
          </a:p>
        </p:txBody>
      </p:sp>
      <p:pic>
        <p:nvPicPr>
          <p:cNvPr id="635" name="Google Shape;635;p81"/>
          <p:cNvPicPr preferRelativeResize="0"/>
          <p:nvPr/>
        </p:nvPicPr>
        <p:blipFill>
          <a:blip r:embed="rId3">
            <a:alphaModFix/>
          </a:blip>
          <a:stretch>
            <a:fillRect/>
          </a:stretch>
        </p:blipFill>
        <p:spPr>
          <a:xfrm>
            <a:off x="5438700" y="1732913"/>
            <a:ext cx="2540411" cy="1838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82"/>
          <p:cNvSpPr txBox="1"/>
          <p:nvPr>
            <p:ph type="title"/>
          </p:nvPr>
        </p:nvSpPr>
        <p:spPr>
          <a:xfrm>
            <a:off x="361975" y="337271"/>
            <a:ext cx="8111400" cy="346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500"/>
              <a:t>Communication strategies and influencing tactics </a:t>
            </a:r>
            <a:endParaRPr sz="2500"/>
          </a:p>
        </p:txBody>
      </p:sp>
      <p:sp>
        <p:nvSpPr>
          <p:cNvPr id="641" name="Google Shape;641;p82"/>
          <p:cNvSpPr/>
          <p:nvPr/>
        </p:nvSpPr>
        <p:spPr>
          <a:xfrm>
            <a:off x="3199475" y="1482600"/>
            <a:ext cx="5867400" cy="352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100"/>
              <a:t>Communication Strategies &amp; Influencing Tactics</a:t>
            </a:r>
            <a:endParaRPr b="1" sz="1100"/>
          </a:p>
          <a:p>
            <a:pPr indent="0" lvl="0" marL="0" rtl="0" algn="l">
              <a:spcBef>
                <a:spcPts val="1200"/>
              </a:spcBef>
              <a:spcAft>
                <a:spcPts val="0"/>
              </a:spcAft>
              <a:buNone/>
            </a:pPr>
            <a:r>
              <a:rPr b="1" lang="en" sz="1100"/>
              <a:t>Social Proof:</a:t>
            </a:r>
            <a:r>
              <a:rPr lang="en" sz="1100"/>
              <a:t> Highlight Deloitte’s success to show the system is industry-standard and effective.</a:t>
            </a:r>
            <a:br>
              <a:rPr lang="en" sz="1100"/>
            </a:br>
            <a:endParaRPr sz="1100"/>
          </a:p>
          <a:p>
            <a:pPr indent="0" lvl="0" marL="0" rtl="0" algn="l">
              <a:spcBef>
                <a:spcPts val="0"/>
              </a:spcBef>
              <a:spcAft>
                <a:spcPts val="0"/>
              </a:spcAft>
              <a:buNone/>
            </a:pPr>
            <a:r>
              <a:rPr b="1" lang="en" sz="1100"/>
              <a:t>Give and Take:</a:t>
            </a:r>
            <a:r>
              <a:rPr lang="en" sz="1100"/>
              <a:t> Present the system as a benefit — clearer decisions, more transparency, less confusion.</a:t>
            </a:r>
            <a:br>
              <a:rPr lang="en" sz="1100"/>
            </a:br>
            <a:endParaRPr sz="1100"/>
          </a:p>
          <a:p>
            <a:pPr indent="0" lvl="0" marL="0" rtl="0" algn="l">
              <a:spcBef>
                <a:spcPts val="0"/>
              </a:spcBef>
              <a:spcAft>
                <a:spcPts val="0"/>
              </a:spcAft>
              <a:buNone/>
            </a:pPr>
            <a:r>
              <a:rPr lang="en" sz="1100"/>
              <a:t>Emphasize improvements in </a:t>
            </a:r>
            <a:r>
              <a:rPr b="1" lang="en" sz="1100"/>
              <a:t>fairness, trust, and cross-office alignment</a:t>
            </a:r>
            <a:r>
              <a:rPr lang="en" sz="1100"/>
              <a:t>.</a:t>
            </a:r>
            <a:br>
              <a:rPr lang="en" sz="1100"/>
            </a:br>
            <a:endParaRPr sz="1100"/>
          </a:p>
          <a:p>
            <a:pPr indent="0" lvl="0" marL="0" rtl="0" algn="l">
              <a:spcBef>
                <a:spcPts val="0"/>
              </a:spcBef>
              <a:spcAft>
                <a:spcPts val="0"/>
              </a:spcAft>
              <a:buNone/>
            </a:pPr>
            <a:r>
              <a:rPr lang="en" sz="1100"/>
              <a:t>Reassure employees with </a:t>
            </a:r>
            <a:r>
              <a:rPr b="1" lang="en" sz="1100"/>
              <a:t>anonymous feedback features</a:t>
            </a:r>
            <a:r>
              <a:rPr lang="en" sz="1100"/>
              <a:t> that enhance voice and psychological safety.</a:t>
            </a:r>
            <a:endParaRPr sz="1100"/>
          </a:p>
        </p:txBody>
      </p:sp>
      <p:pic>
        <p:nvPicPr>
          <p:cNvPr id="642" name="Google Shape;642;p82"/>
          <p:cNvPicPr preferRelativeResize="0"/>
          <p:nvPr/>
        </p:nvPicPr>
        <p:blipFill>
          <a:blip r:embed="rId3">
            <a:alphaModFix/>
          </a:blip>
          <a:stretch>
            <a:fillRect/>
          </a:stretch>
        </p:blipFill>
        <p:spPr>
          <a:xfrm>
            <a:off x="69850" y="2164924"/>
            <a:ext cx="2959151" cy="1873374"/>
          </a:xfrm>
          <a:prstGeom prst="rect">
            <a:avLst/>
          </a:prstGeom>
          <a:noFill/>
          <a:ln>
            <a:noFill/>
          </a:ln>
        </p:spPr>
      </p:pic>
      <p:pic>
        <p:nvPicPr>
          <p:cNvPr id="643" name="Google Shape;643;p82"/>
          <p:cNvPicPr preferRelativeResize="0"/>
          <p:nvPr/>
        </p:nvPicPr>
        <p:blipFill>
          <a:blip r:embed="rId4">
            <a:alphaModFix/>
          </a:blip>
          <a:stretch>
            <a:fillRect/>
          </a:stretch>
        </p:blipFill>
        <p:spPr>
          <a:xfrm>
            <a:off x="7739775" y="156675"/>
            <a:ext cx="1464225" cy="1464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83"/>
          <p:cNvSpPr txBox="1"/>
          <p:nvPr/>
        </p:nvSpPr>
        <p:spPr>
          <a:xfrm>
            <a:off x="109325" y="0"/>
            <a:ext cx="8197800" cy="81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Newsreader"/>
                <a:ea typeface="Newsreader"/>
                <a:cs typeface="Newsreader"/>
                <a:sym typeface="Newsreader"/>
              </a:rPr>
              <a:t>Work</a:t>
            </a:r>
            <a:r>
              <a:rPr b="1" lang="en" sz="2400">
                <a:solidFill>
                  <a:schemeClr val="dk1"/>
                </a:solidFill>
                <a:latin typeface="Newsreader"/>
                <a:ea typeface="Newsreader"/>
                <a:cs typeface="Newsreader"/>
                <a:sym typeface="Newsreader"/>
              </a:rPr>
              <a:t> Cited</a:t>
            </a:r>
            <a:endParaRPr b="1" sz="2400">
              <a:solidFill>
                <a:schemeClr val="dk1"/>
              </a:solidFill>
              <a:latin typeface="Newsreader"/>
              <a:ea typeface="Newsreader"/>
              <a:cs typeface="Newsreader"/>
              <a:sym typeface="Newsreader"/>
            </a:endParaRPr>
          </a:p>
        </p:txBody>
      </p:sp>
      <p:sp>
        <p:nvSpPr>
          <p:cNvPr id="649" name="Google Shape;649;p83"/>
          <p:cNvSpPr txBox="1"/>
          <p:nvPr/>
        </p:nvSpPr>
        <p:spPr>
          <a:xfrm>
            <a:off x="121800" y="533100"/>
            <a:ext cx="5366100" cy="4077300"/>
          </a:xfrm>
          <a:prstGeom prst="rect">
            <a:avLst/>
          </a:prstGeom>
          <a:noFill/>
          <a:ln>
            <a:noFill/>
          </a:ln>
        </p:spPr>
        <p:txBody>
          <a:bodyPr anchorCtr="0" anchor="t" bIns="91425" lIns="91425" spcFirstLastPara="1" rIns="91425" wrap="square" tIns="91425">
            <a:noAutofit/>
          </a:bodyPr>
          <a:lstStyle/>
          <a:p>
            <a:pPr indent="-285750" lvl="0" marL="457200" rtl="0" algn="l">
              <a:lnSpc>
                <a:spcPct val="200000"/>
              </a:lnSpc>
              <a:spcBef>
                <a:spcPts val="120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Becker &amp; Behme.</a:t>
            </a:r>
            <a:r>
              <a:rPr lang="en" sz="900">
                <a:solidFill>
                  <a:schemeClr val="dk1"/>
                </a:solidFill>
                <a:latin typeface="Times New Roman"/>
                <a:ea typeface="Times New Roman"/>
                <a:cs typeface="Times New Roman"/>
                <a:sym typeface="Times New Roman"/>
              </a:rPr>
              <a:t> “The New Knowledge Management.” </a:t>
            </a:r>
            <a:r>
              <a:rPr i="1" lang="en" sz="900">
                <a:solidFill>
                  <a:schemeClr val="dk1"/>
                </a:solidFill>
                <a:latin typeface="Times New Roman"/>
                <a:ea typeface="Times New Roman"/>
                <a:cs typeface="Times New Roman"/>
                <a:sym typeface="Times New Roman"/>
              </a:rPr>
              <a:t>Deloitte Insights</a:t>
            </a:r>
            <a:r>
              <a:rPr lang="en" sz="900">
                <a:solidFill>
                  <a:schemeClr val="dk1"/>
                </a:solidFill>
                <a:latin typeface="Times New Roman"/>
                <a:ea typeface="Times New Roman"/>
                <a:cs typeface="Times New Roman"/>
                <a:sym typeface="Times New Roman"/>
              </a:rPr>
              <a:t>, Deloitte, 27 Jan. 2021.</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0" marL="457200" rtl="0" algn="l">
              <a:lnSpc>
                <a:spcPct val="200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“The Benefits of Knowledge Management in Organizations.”</a:t>
            </a:r>
            <a:r>
              <a:rPr lang="en" sz="900">
                <a:solidFill>
                  <a:schemeClr val="dk1"/>
                </a:solidFill>
                <a:latin typeface="Times New Roman"/>
                <a:ea typeface="Times New Roman"/>
                <a:cs typeface="Times New Roman"/>
                <a:sym typeface="Times New Roman"/>
              </a:rPr>
              <a:t> </a:t>
            </a:r>
            <a:r>
              <a:rPr i="1" lang="en" sz="900">
                <a:solidFill>
                  <a:schemeClr val="dk1"/>
                </a:solidFill>
                <a:latin typeface="Times New Roman"/>
                <a:ea typeface="Times New Roman"/>
                <a:cs typeface="Times New Roman"/>
                <a:sym typeface="Times New Roman"/>
              </a:rPr>
              <a:t>ResearchGate</a:t>
            </a:r>
            <a:r>
              <a:rPr lang="en" sz="900">
                <a:solidFill>
                  <a:schemeClr val="dk1"/>
                </a:solidFill>
                <a:latin typeface="Times New Roman"/>
                <a:ea typeface="Times New Roman"/>
                <a:cs typeface="Times New Roman"/>
                <a:sym typeface="Times New Roman"/>
              </a:rPr>
              <a:t>.</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0" marL="457200" rtl="0" algn="l">
              <a:lnSpc>
                <a:spcPct val="200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“Home - HarbourVest.”</a:t>
            </a:r>
            <a:r>
              <a:rPr lang="en" sz="900">
                <a:solidFill>
                  <a:schemeClr val="dk1"/>
                </a:solidFill>
                <a:latin typeface="Times New Roman"/>
                <a:ea typeface="Times New Roman"/>
                <a:cs typeface="Times New Roman"/>
                <a:sym typeface="Times New Roman"/>
              </a:rPr>
              <a:t> </a:t>
            </a:r>
            <a:r>
              <a:rPr i="1" lang="en" sz="900">
                <a:solidFill>
                  <a:schemeClr val="dk1"/>
                </a:solidFill>
                <a:latin typeface="Times New Roman"/>
                <a:ea typeface="Times New Roman"/>
                <a:cs typeface="Times New Roman"/>
                <a:sym typeface="Times New Roman"/>
              </a:rPr>
              <a:t>HarbourVest</a:t>
            </a:r>
            <a:r>
              <a:rPr lang="en" sz="900">
                <a:solidFill>
                  <a:schemeClr val="dk1"/>
                </a:solidFill>
                <a:latin typeface="Times New Roman"/>
                <a:ea typeface="Times New Roman"/>
                <a:cs typeface="Times New Roman"/>
                <a:sym typeface="Times New Roman"/>
              </a:rPr>
              <a:t>, 29 Oct. 2025,</a:t>
            </a:r>
            <a:r>
              <a:rPr lang="en" sz="900">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 </a:t>
            </a:r>
            <a:r>
              <a:rPr lang="en" sz="90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www.harbourvest.com</a:t>
            </a:r>
            <a:r>
              <a:rPr lang="en" sz="900">
                <a:solidFill>
                  <a:schemeClr val="dk1"/>
                </a:solidFill>
                <a:latin typeface="Times New Roman"/>
                <a:ea typeface="Times New Roman"/>
                <a:cs typeface="Times New Roman"/>
                <a:sym typeface="Times New Roman"/>
              </a:rPr>
              <a:t>. Accessed 4 Dec. 2025.</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0" marL="457200" rtl="0" algn="l">
              <a:lnSpc>
                <a:spcPct val="200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II, Julian Hayes.</a:t>
            </a:r>
            <a:r>
              <a:rPr lang="en" sz="900">
                <a:solidFill>
                  <a:schemeClr val="dk1"/>
                </a:solidFill>
                <a:latin typeface="Times New Roman"/>
                <a:ea typeface="Times New Roman"/>
                <a:cs typeface="Times New Roman"/>
                <a:sym typeface="Times New Roman"/>
              </a:rPr>
              <a:t> “JPMorgan’s Internal Memo Highlights 2 Missed Signals in RTO Mandates.” </a:t>
            </a:r>
            <a:r>
              <a:rPr i="1" lang="en" sz="900">
                <a:solidFill>
                  <a:schemeClr val="dk1"/>
                </a:solidFill>
                <a:latin typeface="Times New Roman"/>
                <a:ea typeface="Times New Roman"/>
                <a:cs typeface="Times New Roman"/>
                <a:sym typeface="Times New Roman"/>
              </a:rPr>
              <a:t>Forbes</a:t>
            </a:r>
            <a:r>
              <a:rPr lang="en" sz="900">
                <a:solidFill>
                  <a:schemeClr val="dk1"/>
                </a:solidFill>
                <a:latin typeface="Times New Roman"/>
                <a:ea typeface="Times New Roman"/>
                <a:cs typeface="Times New Roman"/>
                <a:sym typeface="Times New Roman"/>
              </a:rPr>
              <a:t>, 11 June 2025.</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0" marL="457200" rtl="0" algn="l">
              <a:lnSpc>
                <a:spcPct val="200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Kruse, Kevin.</a:t>
            </a:r>
            <a:r>
              <a:rPr lang="en" sz="900">
                <a:solidFill>
                  <a:schemeClr val="dk1"/>
                </a:solidFill>
                <a:latin typeface="Times New Roman"/>
                <a:ea typeface="Times New Roman"/>
                <a:cs typeface="Times New Roman"/>
                <a:sym typeface="Times New Roman"/>
              </a:rPr>
              <a:t> “How Google Builds Emotionally Intelligent Leaders in AI Era.” </a:t>
            </a:r>
            <a:r>
              <a:rPr i="1" lang="en" sz="900">
                <a:solidFill>
                  <a:schemeClr val="dk1"/>
                </a:solidFill>
                <a:latin typeface="Times New Roman"/>
                <a:ea typeface="Times New Roman"/>
                <a:cs typeface="Times New Roman"/>
                <a:sym typeface="Times New Roman"/>
              </a:rPr>
              <a:t>Forbes</a:t>
            </a:r>
            <a:r>
              <a:rPr lang="en" sz="900">
                <a:solidFill>
                  <a:schemeClr val="dk1"/>
                </a:solidFill>
                <a:latin typeface="Times New Roman"/>
                <a:ea typeface="Times New Roman"/>
                <a:cs typeface="Times New Roman"/>
                <a:sym typeface="Times New Roman"/>
              </a:rPr>
              <a:t>, 18 Nov. 2025.</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0" marL="457200" rtl="0" algn="l">
              <a:lnSpc>
                <a:spcPct val="200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Maldonado, Isabel Coronado, and María-Dolores Benítez Márquez.</a:t>
            </a:r>
            <a:r>
              <a:rPr lang="en" sz="900">
                <a:solidFill>
                  <a:schemeClr val="dk1"/>
                </a:solidFill>
                <a:latin typeface="Times New Roman"/>
                <a:ea typeface="Times New Roman"/>
                <a:cs typeface="Times New Roman"/>
                <a:sym typeface="Times New Roman"/>
              </a:rPr>
              <a:t> “Emotional Intelligence, Leadership, and Work Teams: A Hybrid Literature Review.” </a:t>
            </a:r>
            <a:r>
              <a:rPr i="1" lang="en" sz="900">
                <a:solidFill>
                  <a:schemeClr val="dk1"/>
                </a:solidFill>
                <a:latin typeface="Times New Roman"/>
                <a:ea typeface="Times New Roman"/>
                <a:cs typeface="Times New Roman"/>
                <a:sym typeface="Times New Roman"/>
              </a:rPr>
              <a:t>Heliyon</a:t>
            </a:r>
            <a:r>
              <a:rPr lang="en" sz="900">
                <a:solidFill>
                  <a:schemeClr val="dk1"/>
                </a:solidFill>
                <a:latin typeface="Times New Roman"/>
                <a:ea typeface="Times New Roman"/>
                <a:cs typeface="Times New Roman"/>
                <a:sym typeface="Times New Roman"/>
              </a:rPr>
              <a:t>, vol. 9, no. 10, 2023, pp. 1–19, pmc.ncbi.nlm.nih.gov/articles/PMC10543214/.</a:t>
            </a:r>
            <a:endParaRPr sz="900">
              <a:solidFill>
                <a:schemeClr val="dk1"/>
              </a:solidFill>
              <a:latin typeface="DM Sans"/>
              <a:ea typeface="DM Sans"/>
              <a:cs typeface="DM Sans"/>
              <a:sym typeface="DM Sans"/>
            </a:endParaRPr>
          </a:p>
        </p:txBody>
      </p:sp>
      <p:sp>
        <p:nvSpPr>
          <p:cNvPr id="650" name="Google Shape;650;p83"/>
          <p:cNvSpPr txBox="1"/>
          <p:nvPr/>
        </p:nvSpPr>
        <p:spPr>
          <a:xfrm>
            <a:off x="5487900" y="550525"/>
            <a:ext cx="3513000" cy="4107000"/>
          </a:xfrm>
          <a:prstGeom prst="rect">
            <a:avLst/>
          </a:prstGeom>
          <a:noFill/>
          <a:ln>
            <a:noFill/>
          </a:ln>
        </p:spPr>
        <p:txBody>
          <a:bodyPr anchorCtr="0" anchor="t" bIns="91425" lIns="91425" spcFirstLastPara="1" rIns="91425" wrap="square" tIns="91425">
            <a:noAutofit/>
          </a:bodyPr>
          <a:lstStyle/>
          <a:p>
            <a:pPr indent="-285750" lvl="0" marL="457200" rtl="0" algn="l">
              <a:lnSpc>
                <a:spcPct val="200000"/>
              </a:lnSpc>
              <a:spcBef>
                <a:spcPts val="120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Mayer, John D., and Peter Salovey.</a:t>
            </a:r>
            <a:r>
              <a:rPr lang="en" sz="900">
                <a:solidFill>
                  <a:schemeClr val="dk1"/>
                </a:solidFill>
                <a:latin typeface="Times New Roman"/>
                <a:ea typeface="Times New Roman"/>
                <a:cs typeface="Times New Roman"/>
                <a:sym typeface="Times New Roman"/>
              </a:rPr>
              <a:t> “What Is Emotional Intelligence?” </a:t>
            </a:r>
            <a:r>
              <a:rPr i="1" lang="en" sz="900">
                <a:solidFill>
                  <a:schemeClr val="dk1"/>
                </a:solidFill>
                <a:latin typeface="Times New Roman"/>
                <a:ea typeface="Times New Roman"/>
                <a:cs typeface="Times New Roman"/>
                <a:sym typeface="Times New Roman"/>
              </a:rPr>
              <a:t>ResearchGate</a:t>
            </a:r>
            <a:r>
              <a:rPr lang="en" sz="900">
                <a:solidFill>
                  <a:schemeClr val="dk1"/>
                </a:solidFill>
                <a:latin typeface="Times New Roman"/>
                <a:ea typeface="Times New Roman"/>
                <a:cs typeface="Times New Roman"/>
                <a:sym typeface="Times New Roman"/>
              </a:rPr>
              <a:t>, Jan. 1997.</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0" marL="457200" rtl="0" algn="l">
              <a:lnSpc>
                <a:spcPct val="200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Mayer, John D., et al.</a:t>
            </a:r>
            <a:r>
              <a:rPr lang="en" sz="900">
                <a:solidFill>
                  <a:schemeClr val="dk1"/>
                </a:solidFill>
                <a:latin typeface="Times New Roman"/>
                <a:ea typeface="Times New Roman"/>
                <a:cs typeface="Times New Roman"/>
                <a:sym typeface="Times New Roman"/>
              </a:rPr>
              <a:t> “Emotional Intelligence: New Ability or Eclectic Traits?” </a:t>
            </a:r>
            <a:r>
              <a:rPr i="1" lang="en" sz="900">
                <a:solidFill>
                  <a:schemeClr val="dk1"/>
                </a:solidFill>
                <a:latin typeface="Times New Roman"/>
                <a:ea typeface="Times New Roman"/>
                <a:cs typeface="Times New Roman"/>
                <a:sym typeface="Times New Roman"/>
              </a:rPr>
              <a:t>American Psychologist</a:t>
            </a:r>
            <a:r>
              <a:rPr lang="en" sz="900">
                <a:solidFill>
                  <a:schemeClr val="dk1"/>
                </a:solidFill>
                <a:latin typeface="Times New Roman"/>
                <a:ea typeface="Times New Roman"/>
                <a:cs typeface="Times New Roman"/>
                <a:sym typeface="Times New Roman"/>
              </a:rPr>
              <a:t>, vol. 63, no. 6, Sept. 2008, pp. 503–517.</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0" marL="457200" rtl="0" algn="l">
              <a:lnSpc>
                <a:spcPct val="200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Myers, Tara, and Megan Paul.</a:t>
            </a:r>
            <a:r>
              <a:rPr lang="en" sz="900">
                <a:solidFill>
                  <a:schemeClr val="dk1"/>
                </a:solidFill>
                <a:latin typeface="Times New Roman"/>
                <a:ea typeface="Times New Roman"/>
                <a:cs typeface="Times New Roman"/>
                <a:sym typeface="Times New Roman"/>
              </a:rPr>
              <a:t> “Organizational Justice.” </a:t>
            </a:r>
            <a:r>
              <a:rPr i="1" lang="en" sz="900">
                <a:solidFill>
                  <a:schemeClr val="dk1"/>
                </a:solidFill>
                <a:latin typeface="Times New Roman"/>
                <a:ea typeface="Times New Roman"/>
                <a:cs typeface="Times New Roman"/>
                <a:sym typeface="Times New Roman"/>
              </a:rPr>
              <a:t>DigitalCommons@University of Nebraska – Lincoln</a:t>
            </a:r>
            <a:r>
              <a:rPr lang="en" sz="900">
                <a:solidFill>
                  <a:schemeClr val="dk1"/>
                </a:solidFill>
                <a:latin typeface="Times New Roman"/>
                <a:ea typeface="Times New Roman"/>
                <a:cs typeface="Times New Roman"/>
                <a:sym typeface="Times New Roman"/>
              </a:rPr>
              <a:t>, 2020.</a:t>
            </a:r>
            <a:endParaRPr sz="900">
              <a:solidFill>
                <a:schemeClr val="dk1"/>
              </a:solidFill>
              <a:latin typeface="Times New Roman"/>
              <a:ea typeface="Times New Roman"/>
              <a:cs typeface="Times New Roman"/>
              <a:sym typeface="Times New Roman"/>
            </a:endParaRPr>
          </a:p>
          <a:p>
            <a:pPr indent="0" lvl="0" marL="457200" rtl="0" algn="l">
              <a:lnSpc>
                <a:spcPct val="200000"/>
              </a:lnSpc>
              <a:spcBef>
                <a:spcPts val="1200"/>
              </a:spcBef>
              <a:spcAft>
                <a:spcPts val="1200"/>
              </a:spcAft>
              <a:buNone/>
            </a:pPr>
            <a:br>
              <a:rPr lang="en" sz="900">
                <a:solidFill>
                  <a:schemeClr val="dk1"/>
                </a:solidFill>
                <a:latin typeface="Times New Roman"/>
                <a:ea typeface="Times New Roman"/>
                <a:cs typeface="Times New Roman"/>
                <a:sym typeface="Times New Roman"/>
              </a:rPr>
            </a:br>
            <a:endParaRPr sz="900">
              <a:solidFill>
                <a:schemeClr val="dk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84"/>
          <p:cNvSpPr/>
          <p:nvPr/>
        </p:nvSpPr>
        <p:spPr>
          <a:xfrm>
            <a:off x="1591350" y="838225"/>
            <a:ext cx="5867400" cy="288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400">
                <a:latin typeface="Times New Roman"/>
                <a:ea typeface="Times New Roman"/>
                <a:cs typeface="Times New Roman"/>
                <a:sym typeface="Times New Roman"/>
              </a:rPr>
              <a:t>Thank you for your time!</a:t>
            </a:r>
            <a:endParaRPr sz="4400">
              <a:latin typeface="Times New Roman"/>
              <a:ea typeface="Times New Roman"/>
              <a:cs typeface="Times New Roman"/>
              <a:sym typeface="Times New Roman"/>
            </a:endParaRPr>
          </a:p>
        </p:txBody>
      </p:sp>
      <p:pic>
        <p:nvPicPr>
          <p:cNvPr id="656" name="Google Shape;656;p8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